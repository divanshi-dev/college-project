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embeddedFontLst>
    <p:embeddedFont>
      <p:font typeface="Cabin Condensed Bold" panose="020B0604020202020204" charset="0"/>
      <p:regular r:id="rId20"/>
    </p:embeddedFont>
    <p:embeddedFont>
      <p:font typeface="Century Gothic" panose="020B0502020202020204" pitchFamily="34" charset="0"/>
      <p:regular r:id="rId21"/>
      <p:bold r:id="rId22"/>
      <p:italic r:id="rId23"/>
      <p:boldItalic r:id="rId24"/>
    </p:embeddedFont>
    <p:embeddedFont>
      <p:font typeface="Corbel" panose="020B0503020204020204" pitchFamily="34" charset="0"/>
      <p:regular r:id="rId25"/>
      <p:bold r:id="rId26"/>
      <p:italic r:id="rId27"/>
      <p:boldItalic r:id="rId28"/>
    </p:embeddedFont>
    <p:embeddedFont>
      <p:font typeface="Merriweather Sans" pitchFamily="2" charset="0"/>
      <p:regular r:id="rId29"/>
    </p:embeddedFont>
    <p:embeddedFont>
      <p:font typeface="Merriweather Sans Bold" panose="020B0604020202020204" charset="0"/>
      <p:regular r:id="rId30"/>
    </p:embeddedFont>
    <p:embeddedFont>
      <p:font typeface="Merriweather Sans SemiBold" panose="020B0604020202020204" charset="0"/>
      <p:regular r:id="rId31"/>
    </p:embeddedFont>
    <p:embeddedFont>
      <p:font typeface="Roboto Mono Medium" panose="00000009000000000000" pitchFamily="49" charset="0"/>
      <p:regular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268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two machine learning approaches for environmental monitoring and sustainable waste management. The first project works with structured air-quality records; the second works with waste images. The presentation moves from shared architecture to the documented air-model baseline, then to the waste-classification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two projects as two data lenses on one sustainability challenge. The air project uses tabular regression, while the waste project uses image classification. Both are treated as explainable engineering prototypes rather than unsupported deployment claims.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shared architecture for the presentation. “Inference” means producing a prediction from a trained model. The two branches share the same engineering rhythm, even though their data and model types differ.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RSPM as the target the notebook predicts from pollutant, location and time information. The dataset contains 50,000 rows and 13 columns. The model is Linear Regression inside a preprocessing pipeline, so the next slides focus on whether the records are usable and how they become features.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missingness values exactly as documented. PM2.5 and SPM have substantial gaps, while SO2 and NO2 are more complete. The notebook removes 10 duplicate records and retains 49,990 rows with valid RSPM, which makes the preprocessing decisions important before modeling.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from left to right. Imputation fills missing values using a rule learned from the available data, while one-hot encoding turns categories into numeric indicators. The final 80/20 split, with random_state 42, creates the held-out test set used for the baseline results.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is an inspection tool. The RSPM–PM2.5 and RSPM–SPM relationships are stronger than the RSPM–NO2 relationship in the notebook. Emphasize the boundary: correlation identifies a relationship in the records, but it does not establish causality.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reported metrics without treating them as interchangeable. MAE is average absolute error, MSE squares the errors, RMSE returns to the target scale, and R² describes explained variation. The notebook reports a measurable baseline, but the material error means this is not a deployment claim.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what the baseline can support from what it cannot establish. The actual-versus-predicted view helps inspect under- and over-estimation patterns, while missing PM2.5 and SPM limit available signal. The next engineering step is stronger regressors and validation across locations and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second project as computer vision classification. A 2D CNN is a convolutional neural network designed to learn visual patterns from image grids. The supplied notebook documents image loading, input size, validation split and training duration, but it does not provide actual run metrics, so do not report accuracy, loss or deployment performance.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D3E4E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p:cNvPicPr>
            <a:picLocks noChangeAspect="1"/>
          </p:cNvPicPr>
          <p:nvPr/>
        </p:nvPicPr>
        <p:blipFill>
          <a:blip r:embed="rId3"/>
          <a:stretch>
            <a:fillRect/>
          </a:stretch>
        </p:blipFill>
        <p:spPr>
          <a:xfrm>
            <a:off x="279294" y="279301"/>
            <a:ext cx="11632810" cy="6299101"/>
          </a:xfrm>
          <a:prstGeom prst="rect">
            <a:avLst/>
          </a:prstGeom>
        </p:spPr>
      </p:pic>
      <p:pic>
        <p:nvPicPr>
          <p:cNvPr id="4"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D3E4EE"/>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783" y="2667000"/>
            <a:ext cx="8254793" cy="3106837"/>
          </a:xfrm>
          <a:prstGeom prst="roundRect">
            <a:avLst>
              <a:gd name="adj" fmla="val 6867"/>
            </a:avLst>
          </a:prstGeom>
          <a:solidFill>
            <a:srgbClr val="F7FAFC"/>
          </a:solidFill>
          <a:ln/>
        </p:spPr>
        <p:txBody>
          <a:bodyPr/>
          <a:lstStyle/>
          <a:p>
            <a:endParaRPr/>
          </a:p>
        </p:txBody>
      </p:sp>
      <p:sp>
        <p:nvSpPr>
          <p:cNvPr id="3" name="Text 1"/>
          <p:cNvSpPr/>
          <p:nvPr/>
        </p:nvSpPr>
        <p:spPr>
          <a:xfrm>
            <a:off x="1066773" y="3046290"/>
            <a:ext cx="7492813" cy="1280120"/>
          </a:xfrm>
          <a:prstGeom prst="rect">
            <a:avLst/>
          </a:prstGeom>
          <a:noFill/>
          <a:ln/>
        </p:spPr>
        <p:txBody>
          <a:bodyPr wrap="square" lIns="0" tIns="0" rIns="0" bIns="0" rtlCol="0" anchor="t">
            <a:normAutofit lnSpcReduction="10000"/>
          </a:bodyPr>
          <a:lstStyle/>
          <a:p>
            <a:pPr marL="0" indent="0" algn="l">
              <a:lnSpc>
                <a:spcPct val="88000"/>
              </a:lnSpc>
              <a:buNone/>
            </a:pPr>
            <a:r>
              <a:rPr lang="en-US" sz="4800" b="1" kern="100" spc="-24" dirty="0">
                <a:solidFill>
                  <a:srgbClr val="000000"/>
                </a:solidFill>
                <a:latin typeface="Cabin Condensed Bold" pitchFamily="34" charset="0"/>
                <a:ea typeface="Cabin Condensed Bold" pitchFamily="34" charset="-122"/>
                <a:cs typeface="Cabin Condensed Bold" pitchFamily="34" charset="-120"/>
              </a:rPr>
              <a:t>AI FOR A</a:t>
            </a:r>
            <a:endParaRPr lang="en-US" sz="4800" dirty="0"/>
          </a:p>
          <a:p>
            <a:pPr marL="0" indent="0" algn="l">
              <a:lnSpc>
                <a:spcPct val="88000"/>
              </a:lnSpc>
              <a:buNone/>
            </a:pPr>
            <a:r>
              <a:rPr lang="en-US" sz="4800" b="1" kern="100" spc="-24" dirty="0">
                <a:solidFill>
                  <a:srgbClr val="000000"/>
                </a:solidFill>
                <a:latin typeface="Cabin Condensed Bold" pitchFamily="34" charset="0"/>
                <a:ea typeface="Cabin Condensed Bold" pitchFamily="34" charset="-122"/>
                <a:cs typeface="Cabin Condensed Bold" pitchFamily="34" charset="-120"/>
              </a:rPr>
              <a:t>GREENER FUTURE</a:t>
            </a:r>
            <a:endParaRPr lang="en-US" sz="4800" dirty="0"/>
          </a:p>
        </p:txBody>
      </p:sp>
      <p:sp>
        <p:nvSpPr>
          <p:cNvPr id="4" name="Text 2"/>
          <p:cNvSpPr/>
          <p:nvPr/>
        </p:nvSpPr>
        <p:spPr>
          <a:xfrm>
            <a:off x="1066773" y="4531320"/>
            <a:ext cx="8102397" cy="313035"/>
          </a:xfrm>
          <a:prstGeom prst="rect">
            <a:avLst/>
          </a:prstGeom>
          <a:noFill/>
          <a:ln/>
        </p:spPr>
        <p:txBody>
          <a:bodyPr wrap="none" lIns="0" tIns="0" rIns="0" bIns="0" rtlCol="0" anchor="t"/>
          <a:lstStyle/>
          <a:p>
            <a:pPr marL="0" indent="0" algn="l">
              <a:lnSpc>
                <a:spcPct val="121000"/>
              </a:lnSpc>
              <a:buNone/>
            </a:pPr>
            <a:r>
              <a:rPr lang="en-US" sz="1700" dirty="0">
                <a:solidFill>
                  <a:srgbClr val="000000"/>
                </a:solidFill>
                <a:latin typeface="Merriweather Sans" pitchFamily="34" charset="0"/>
                <a:ea typeface="Merriweather Sans" pitchFamily="34" charset="-122"/>
                <a:cs typeface="Merriweather Sans" pitchFamily="34" charset="-120"/>
              </a:rPr>
              <a:t>Predicting air pollution and sorting waste smarter</a:t>
            </a:r>
            <a:endParaRPr lang="en-US" sz="1700" dirty="0"/>
          </a:p>
        </p:txBody>
      </p:sp>
      <p:sp>
        <p:nvSpPr>
          <p:cNvPr id="5" name="Text 3"/>
          <p:cNvSpPr/>
          <p:nvPr/>
        </p:nvSpPr>
        <p:spPr>
          <a:xfrm>
            <a:off x="1066773" y="5085338"/>
            <a:ext cx="7492813" cy="396081"/>
          </a:xfrm>
          <a:prstGeom prst="rect">
            <a:avLst/>
          </a:prstGeom>
          <a:noFill/>
          <a:ln/>
        </p:spPr>
        <p:txBody>
          <a:bodyPr wrap="square" lIns="0" tIns="0" rIns="0" bIns="0" rtlCol="0" anchor="t">
            <a:normAutofit/>
          </a:bodyPr>
          <a:lstStyle/>
          <a:p>
            <a:pPr marL="0" indent="0" algn="l">
              <a:lnSpc>
                <a:spcPct val="108000"/>
              </a:lnSpc>
              <a:buNone/>
            </a:pPr>
            <a:r>
              <a:rPr lang="en-US" sz="1200" kern="100" spc="72" dirty="0">
                <a:solidFill>
                  <a:srgbClr val="3A4562"/>
                </a:solidFill>
                <a:latin typeface="Roboto Mono Medium" pitchFamily="34" charset="0"/>
                <a:ea typeface="Roboto Mono Medium" pitchFamily="34" charset="-122"/>
                <a:cs typeface="Roboto Mono Medium" pitchFamily="34" charset="-120"/>
              </a:rPr>
              <a:t>TWO MACHINE LEARNING PROJECTS FOR A CLEANER ENVIRONMENT</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84185" y="603187"/>
            <a:ext cx="11023324" cy="967184"/>
          </a:xfrm>
          <a:prstGeom prst="rect">
            <a:avLst/>
          </a:prstGeom>
          <a:noFill/>
          <a:ln/>
        </p:spPr>
        <p:txBody>
          <a:bodyPr wrap="square" lIns="0" tIns="0" rIns="0" bIns="0" rtlCol="0" anchor="t">
            <a:normAutofit/>
          </a:bodyPr>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One environmental challenge,</a:t>
            </a:r>
            <a:endParaRPr lang="en-US" sz="3400" dirty="0"/>
          </a:p>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two ways to use ML</a:t>
            </a:r>
            <a:endParaRPr lang="en-US" sz="3400" dirty="0"/>
          </a:p>
        </p:txBody>
      </p:sp>
      <p:sp>
        <p:nvSpPr>
          <p:cNvPr id="3" name="Text 1"/>
          <p:cNvSpPr/>
          <p:nvPr/>
        </p:nvSpPr>
        <p:spPr>
          <a:xfrm>
            <a:off x="584185" y="1805384"/>
            <a:ext cx="11607510" cy="313035"/>
          </a:xfrm>
          <a:prstGeom prst="rect">
            <a:avLst/>
          </a:prstGeom>
          <a:noFill/>
          <a:ln/>
        </p:spPr>
        <p:txBody>
          <a:bodyPr wrap="none" lIns="0" tIns="0" rIns="0" bIns="0" rtlCol="0" anchor="t"/>
          <a:lstStyle/>
          <a:p>
            <a:pPr marL="0" indent="0" algn="l">
              <a:lnSpc>
                <a:spcPct val="121000"/>
              </a:lnSpc>
              <a:buNone/>
            </a:pPr>
            <a:r>
              <a:rPr lang="en-US" sz="1700" dirty="0">
                <a:solidFill>
                  <a:srgbClr val="1B1F4A"/>
                </a:solidFill>
                <a:latin typeface="Merriweather Sans" pitchFamily="34" charset="0"/>
                <a:ea typeface="Merriweather Sans" pitchFamily="34" charset="-122"/>
                <a:cs typeface="Merriweather Sans" pitchFamily="34" charset="-120"/>
              </a:rPr>
              <a:t>The data is different, but the aim is the same: make information useful.</a:t>
            </a:r>
            <a:endParaRPr lang="en-US" sz="1700" dirty="0"/>
          </a:p>
        </p:txBody>
      </p:sp>
      <p:sp>
        <p:nvSpPr>
          <p:cNvPr id="4" name="Shape 2"/>
          <p:cNvSpPr/>
          <p:nvPr/>
        </p:nvSpPr>
        <p:spPr>
          <a:xfrm>
            <a:off x="584185" y="3556000"/>
            <a:ext cx="3471180" cy="2717800"/>
          </a:xfrm>
          <a:prstGeom prst="roundRect">
            <a:avLst>
              <a:gd name="adj" fmla="val 7850"/>
            </a:avLst>
          </a:prstGeom>
          <a:solidFill>
            <a:srgbClr val="EEF5F9"/>
          </a:solidFill>
          <a:ln/>
        </p:spPr>
        <p:txBody>
          <a:bodyPr/>
          <a:lstStyle/>
          <a:p>
            <a:endParaRPr/>
          </a:p>
        </p:txBody>
      </p:sp>
      <p:pic>
        <p:nvPicPr>
          <p:cNvPr id="5" name="Image 0" descr="preencoded.png"/>
          <p:cNvPicPr>
            <a:picLocks noChangeAspect="1"/>
          </p:cNvPicPr>
          <p:nvPr/>
        </p:nvPicPr>
        <p:blipFill>
          <a:blip r:embed="rId3"/>
          <a:stretch>
            <a:fillRect/>
          </a:stretch>
        </p:blipFill>
        <p:spPr>
          <a:xfrm>
            <a:off x="812780" y="3784600"/>
            <a:ext cx="431789" cy="431800"/>
          </a:xfrm>
          <a:prstGeom prst="rect">
            <a:avLst/>
          </a:prstGeom>
        </p:spPr>
      </p:pic>
      <p:sp>
        <p:nvSpPr>
          <p:cNvPr id="6" name="Text 3"/>
          <p:cNvSpPr/>
          <p:nvPr/>
        </p:nvSpPr>
        <p:spPr>
          <a:xfrm>
            <a:off x="812780" y="4377531"/>
            <a:ext cx="3013992"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Structured records</a:t>
            </a:r>
            <a:endParaRPr lang="en-US" sz="2100" dirty="0"/>
          </a:p>
        </p:txBody>
      </p:sp>
      <p:sp>
        <p:nvSpPr>
          <p:cNvPr id="7" name="Text 4"/>
          <p:cNvSpPr/>
          <p:nvPr/>
        </p:nvSpPr>
        <p:spPr>
          <a:xfrm>
            <a:off x="812780" y="4885531"/>
            <a:ext cx="3013992"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Use air-quality records to estimate pollution levels.</a:t>
            </a:r>
            <a:endParaRPr lang="en-US" sz="1500" dirty="0"/>
          </a:p>
        </p:txBody>
      </p:sp>
      <p:sp>
        <p:nvSpPr>
          <p:cNvPr id="8" name="Shape 5"/>
          <p:cNvSpPr/>
          <p:nvPr/>
        </p:nvSpPr>
        <p:spPr>
          <a:xfrm>
            <a:off x="4360158" y="3556000"/>
            <a:ext cx="3471280" cy="2717800"/>
          </a:xfrm>
          <a:prstGeom prst="roundRect">
            <a:avLst>
              <a:gd name="adj" fmla="val 7850"/>
            </a:avLst>
          </a:prstGeom>
          <a:solidFill>
            <a:srgbClr val="F4EFE6"/>
          </a:solidFill>
          <a:ln/>
        </p:spPr>
        <p:txBody>
          <a:bodyPr/>
          <a:lstStyle/>
          <a:p>
            <a:endParaRPr/>
          </a:p>
        </p:txBody>
      </p:sp>
      <p:pic>
        <p:nvPicPr>
          <p:cNvPr id="9" name="Image 1" descr="preencoded.png"/>
          <p:cNvPicPr>
            <a:picLocks noChangeAspect="1"/>
          </p:cNvPicPr>
          <p:nvPr/>
        </p:nvPicPr>
        <p:blipFill>
          <a:blip r:embed="rId4"/>
          <a:stretch>
            <a:fillRect/>
          </a:stretch>
        </p:blipFill>
        <p:spPr>
          <a:xfrm>
            <a:off x="4588752" y="3784600"/>
            <a:ext cx="431789" cy="431800"/>
          </a:xfrm>
          <a:prstGeom prst="rect">
            <a:avLst/>
          </a:prstGeom>
        </p:spPr>
      </p:pic>
      <p:sp>
        <p:nvSpPr>
          <p:cNvPr id="10" name="Text 6"/>
          <p:cNvSpPr/>
          <p:nvPr/>
        </p:nvSpPr>
        <p:spPr>
          <a:xfrm>
            <a:off x="4588752" y="4377531"/>
            <a:ext cx="3014091"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Waste images</a:t>
            </a:r>
            <a:endParaRPr lang="en-US" sz="2100" dirty="0"/>
          </a:p>
        </p:txBody>
      </p:sp>
      <p:sp>
        <p:nvSpPr>
          <p:cNvPr id="11" name="Text 7"/>
          <p:cNvSpPr/>
          <p:nvPr/>
        </p:nvSpPr>
        <p:spPr>
          <a:xfrm>
            <a:off x="4588752" y="4885531"/>
            <a:ext cx="3014091"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Sort waste images into the categories in the dataset.</a:t>
            </a:r>
            <a:endParaRPr lang="en-US" sz="1500" dirty="0"/>
          </a:p>
        </p:txBody>
      </p:sp>
      <p:sp>
        <p:nvSpPr>
          <p:cNvPr id="12" name="Shape 8"/>
          <p:cNvSpPr/>
          <p:nvPr/>
        </p:nvSpPr>
        <p:spPr>
          <a:xfrm>
            <a:off x="8136230" y="3556000"/>
            <a:ext cx="3471280" cy="2717800"/>
          </a:xfrm>
          <a:prstGeom prst="roundRect">
            <a:avLst>
              <a:gd name="adj" fmla="val 7850"/>
            </a:avLst>
          </a:prstGeom>
          <a:solidFill>
            <a:srgbClr val="EEF5F9"/>
          </a:solidFill>
          <a:ln/>
        </p:spPr>
        <p:txBody>
          <a:bodyPr/>
          <a:lstStyle/>
          <a:p>
            <a:endParaRPr/>
          </a:p>
        </p:txBody>
      </p:sp>
      <p:pic>
        <p:nvPicPr>
          <p:cNvPr id="13" name="Image 2" descr="preencoded.png"/>
          <p:cNvPicPr>
            <a:picLocks noChangeAspect="1"/>
          </p:cNvPicPr>
          <p:nvPr/>
        </p:nvPicPr>
        <p:blipFill>
          <a:blip r:embed="rId5"/>
          <a:stretch>
            <a:fillRect/>
          </a:stretch>
        </p:blipFill>
        <p:spPr>
          <a:xfrm>
            <a:off x="8364824" y="3784600"/>
            <a:ext cx="431789" cy="431800"/>
          </a:xfrm>
          <a:prstGeom prst="rect">
            <a:avLst/>
          </a:prstGeom>
        </p:spPr>
      </p:pic>
      <p:sp>
        <p:nvSpPr>
          <p:cNvPr id="14" name="Text 9"/>
          <p:cNvSpPr/>
          <p:nvPr/>
        </p:nvSpPr>
        <p:spPr>
          <a:xfrm>
            <a:off x="8364824" y="4377531"/>
            <a:ext cx="3014091" cy="666750"/>
          </a:xfrm>
          <a:prstGeom prst="rect">
            <a:avLst/>
          </a:prstGeom>
          <a:noFill/>
          <a:ln/>
        </p:spPr>
        <p:txBody>
          <a:bodyPr wrap="square" lIns="0" tIns="0" rIns="0" bIns="0" rtlCol="0" anchor="t">
            <a:normAutofit/>
          </a:bodyPr>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Explainable prototypes</a:t>
            </a:r>
            <a:endParaRPr lang="en-US" sz="2100" dirty="0"/>
          </a:p>
        </p:txBody>
      </p:sp>
      <p:sp>
        <p:nvSpPr>
          <p:cNvPr id="15" name="Text 10"/>
          <p:cNvSpPr/>
          <p:nvPr/>
        </p:nvSpPr>
        <p:spPr>
          <a:xfrm>
            <a:off x="8364824" y="5218906"/>
            <a:ext cx="3014091"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Build simple prototypes and make each step easy to follow.</a:t>
            </a:r>
            <a:endParaRPr lang="en-US" sz="1500"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84185" y="603187"/>
            <a:ext cx="11023324" cy="483592"/>
          </a:xfrm>
          <a:prstGeom prst="rect">
            <a:avLst/>
          </a:prstGeom>
          <a:noFill/>
          <a:ln/>
        </p:spPr>
        <p:txBody>
          <a:bodyPr wrap="none" lIns="0" tIns="0" rIns="0" bIns="0" rtlCol="0" anchor="t"/>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How the projects work: data to decision</a:t>
            </a:r>
            <a:endParaRPr lang="en-US" sz="3400" dirty="0"/>
          </a:p>
        </p:txBody>
      </p:sp>
      <p:sp>
        <p:nvSpPr>
          <p:cNvPr id="3" name="Text 1"/>
          <p:cNvSpPr/>
          <p:nvPr/>
        </p:nvSpPr>
        <p:spPr>
          <a:xfrm>
            <a:off x="584185" y="1321792"/>
            <a:ext cx="11607510" cy="313035"/>
          </a:xfrm>
          <a:prstGeom prst="rect">
            <a:avLst/>
          </a:prstGeom>
          <a:noFill/>
          <a:ln/>
        </p:spPr>
        <p:txBody>
          <a:bodyPr wrap="none" lIns="0" tIns="0" rIns="0" bIns="0" rtlCol="0" anchor="t"/>
          <a:lstStyle/>
          <a:p>
            <a:pPr marL="0" indent="0" algn="l">
              <a:lnSpc>
                <a:spcPct val="121000"/>
              </a:lnSpc>
              <a:buNone/>
            </a:pPr>
            <a:r>
              <a:rPr lang="en-US" sz="1700" dirty="0">
                <a:solidFill>
                  <a:srgbClr val="1B1F4A"/>
                </a:solidFill>
                <a:latin typeface="Merriweather Sans" pitchFamily="34" charset="0"/>
                <a:ea typeface="Merriweather Sans" pitchFamily="34" charset="-122"/>
                <a:cs typeface="Merriweather Sans" pitchFamily="34" charset="-120"/>
              </a:rPr>
              <a:t>Both projects follow the same basic steps, from data to a useful result.</a:t>
            </a:r>
            <a:endParaRPr lang="en-US" sz="1700" dirty="0"/>
          </a:p>
        </p:txBody>
      </p:sp>
      <p:sp>
        <p:nvSpPr>
          <p:cNvPr id="4" name="Shape 2"/>
          <p:cNvSpPr/>
          <p:nvPr/>
        </p:nvSpPr>
        <p:spPr>
          <a:xfrm>
            <a:off x="584185" y="2796877"/>
            <a:ext cx="11023324" cy="28575"/>
          </a:xfrm>
          <a:prstGeom prst="roundRect">
            <a:avLst>
              <a:gd name="adj" fmla="val 49999"/>
            </a:avLst>
          </a:prstGeom>
          <a:solidFill>
            <a:srgbClr val="DEB9BC"/>
          </a:solidFill>
          <a:ln/>
        </p:spPr>
        <p:txBody>
          <a:bodyPr/>
          <a:lstStyle/>
          <a:p>
            <a:endParaRPr/>
          </a:p>
        </p:txBody>
      </p:sp>
      <p:sp>
        <p:nvSpPr>
          <p:cNvPr id="5" name="Shape 3"/>
          <p:cNvSpPr/>
          <p:nvPr/>
        </p:nvSpPr>
        <p:spPr>
          <a:xfrm>
            <a:off x="2317097" y="2365077"/>
            <a:ext cx="28574" cy="431800"/>
          </a:xfrm>
          <a:prstGeom prst="roundRect">
            <a:avLst>
              <a:gd name="adj" fmla="val 50000"/>
            </a:avLst>
          </a:prstGeom>
          <a:solidFill>
            <a:srgbClr val="DEB9BC"/>
          </a:solidFill>
          <a:ln/>
        </p:spPr>
        <p:txBody>
          <a:bodyPr/>
          <a:lstStyle/>
          <a:p>
            <a:endParaRPr/>
          </a:p>
        </p:txBody>
      </p:sp>
      <p:sp>
        <p:nvSpPr>
          <p:cNvPr id="6" name="Shape 4"/>
          <p:cNvSpPr/>
          <p:nvPr/>
        </p:nvSpPr>
        <p:spPr>
          <a:xfrm>
            <a:off x="2250423" y="2715915"/>
            <a:ext cx="161921" cy="161925"/>
          </a:xfrm>
          <a:prstGeom prst="ellipse">
            <a:avLst/>
          </a:prstGeom>
          <a:solidFill>
            <a:srgbClr val="C8202F"/>
          </a:solidFill>
          <a:ln/>
        </p:spPr>
        <p:txBody>
          <a:bodyPr/>
          <a:lstStyle/>
          <a:p>
            <a:endParaRPr/>
          </a:p>
        </p:txBody>
      </p:sp>
      <p:sp>
        <p:nvSpPr>
          <p:cNvPr id="7" name="Text 5"/>
          <p:cNvSpPr/>
          <p:nvPr/>
        </p:nvSpPr>
        <p:spPr>
          <a:xfrm>
            <a:off x="800030" y="1863427"/>
            <a:ext cx="3062707" cy="285750"/>
          </a:xfrm>
          <a:prstGeom prst="rect">
            <a:avLst/>
          </a:prstGeom>
          <a:noFill/>
          <a:ln/>
        </p:spPr>
        <p:txBody>
          <a:bodyPr wrap="none" lIns="0" tIns="0" rIns="0" bIns="0" rtlCol="0" anchor="t"/>
          <a:lstStyle/>
          <a:p>
            <a:pPr marL="0" indent="0" algn="ctr">
              <a:lnSpc>
                <a:spcPct val="104000"/>
              </a:lnSpc>
              <a:buNone/>
            </a:pPr>
            <a:r>
              <a:rPr lang="en-US" sz="1800" b="1" kern="100" spc="-9" dirty="0">
                <a:solidFill>
                  <a:srgbClr val="1B1F4A"/>
                </a:solidFill>
                <a:latin typeface="Cabin Condensed Bold" pitchFamily="34" charset="0"/>
                <a:ea typeface="Cabin Condensed Bold" pitchFamily="34" charset="-122"/>
                <a:cs typeface="Cabin Condensed Bold" pitchFamily="34" charset="-120"/>
              </a:rPr>
              <a:t>Data capture</a:t>
            </a:r>
            <a:endParaRPr lang="en-US" sz="1800" dirty="0"/>
          </a:p>
        </p:txBody>
      </p:sp>
      <p:sp>
        <p:nvSpPr>
          <p:cNvPr id="8" name="Shape 6"/>
          <p:cNvSpPr/>
          <p:nvPr/>
        </p:nvSpPr>
        <p:spPr>
          <a:xfrm>
            <a:off x="4199329" y="2796877"/>
            <a:ext cx="28574" cy="431800"/>
          </a:xfrm>
          <a:prstGeom prst="roundRect">
            <a:avLst>
              <a:gd name="adj" fmla="val 50000"/>
            </a:avLst>
          </a:prstGeom>
          <a:solidFill>
            <a:srgbClr val="DEB9BC"/>
          </a:solidFill>
          <a:ln/>
        </p:spPr>
        <p:txBody>
          <a:bodyPr/>
          <a:lstStyle/>
          <a:p>
            <a:endParaRPr/>
          </a:p>
        </p:txBody>
      </p:sp>
      <p:sp>
        <p:nvSpPr>
          <p:cNvPr id="9" name="Shape 7"/>
          <p:cNvSpPr/>
          <p:nvPr/>
        </p:nvSpPr>
        <p:spPr>
          <a:xfrm>
            <a:off x="4132655" y="2715915"/>
            <a:ext cx="161921" cy="161925"/>
          </a:xfrm>
          <a:prstGeom prst="ellipse">
            <a:avLst/>
          </a:prstGeom>
          <a:solidFill>
            <a:srgbClr val="C8202F"/>
          </a:solidFill>
          <a:ln/>
        </p:spPr>
        <p:txBody>
          <a:bodyPr/>
          <a:lstStyle/>
          <a:p>
            <a:endParaRPr/>
          </a:p>
        </p:txBody>
      </p:sp>
      <p:sp>
        <p:nvSpPr>
          <p:cNvPr id="10" name="Text 8"/>
          <p:cNvSpPr/>
          <p:nvPr/>
        </p:nvSpPr>
        <p:spPr>
          <a:xfrm>
            <a:off x="2682213" y="3444577"/>
            <a:ext cx="3062806" cy="285750"/>
          </a:xfrm>
          <a:prstGeom prst="rect">
            <a:avLst/>
          </a:prstGeom>
          <a:noFill/>
          <a:ln/>
        </p:spPr>
        <p:txBody>
          <a:bodyPr wrap="none" lIns="0" tIns="0" rIns="0" bIns="0" rtlCol="0" anchor="t"/>
          <a:lstStyle/>
          <a:p>
            <a:pPr marL="0" indent="0" algn="ctr">
              <a:lnSpc>
                <a:spcPct val="104000"/>
              </a:lnSpc>
              <a:buNone/>
            </a:pPr>
            <a:r>
              <a:rPr lang="en-US" sz="1800" b="1" kern="100" spc="-9" dirty="0">
                <a:solidFill>
                  <a:srgbClr val="1B1F4A"/>
                </a:solidFill>
                <a:latin typeface="Cabin Condensed Bold" pitchFamily="34" charset="0"/>
                <a:ea typeface="Cabin Condensed Bold" pitchFamily="34" charset="-122"/>
                <a:cs typeface="Cabin Condensed Bold" pitchFamily="34" charset="-120"/>
              </a:rPr>
              <a:t>Preprocessing</a:t>
            </a:r>
            <a:endParaRPr lang="en-US" sz="1800" dirty="0"/>
          </a:p>
        </p:txBody>
      </p:sp>
      <p:sp>
        <p:nvSpPr>
          <p:cNvPr id="11" name="Shape 9"/>
          <p:cNvSpPr/>
          <p:nvPr/>
        </p:nvSpPr>
        <p:spPr>
          <a:xfrm>
            <a:off x="6081461" y="2365077"/>
            <a:ext cx="28574" cy="431800"/>
          </a:xfrm>
          <a:prstGeom prst="roundRect">
            <a:avLst>
              <a:gd name="adj" fmla="val 50000"/>
            </a:avLst>
          </a:prstGeom>
          <a:solidFill>
            <a:srgbClr val="DEB9BC"/>
          </a:solidFill>
          <a:ln/>
        </p:spPr>
        <p:txBody>
          <a:bodyPr/>
          <a:lstStyle/>
          <a:p>
            <a:endParaRPr/>
          </a:p>
        </p:txBody>
      </p:sp>
      <p:sp>
        <p:nvSpPr>
          <p:cNvPr id="12" name="Shape 10"/>
          <p:cNvSpPr/>
          <p:nvPr/>
        </p:nvSpPr>
        <p:spPr>
          <a:xfrm>
            <a:off x="6014788" y="2715915"/>
            <a:ext cx="161921" cy="161925"/>
          </a:xfrm>
          <a:prstGeom prst="ellipse">
            <a:avLst/>
          </a:prstGeom>
          <a:solidFill>
            <a:srgbClr val="C8202F"/>
          </a:solidFill>
          <a:ln/>
        </p:spPr>
        <p:txBody>
          <a:bodyPr/>
          <a:lstStyle/>
          <a:p>
            <a:endParaRPr/>
          </a:p>
        </p:txBody>
      </p:sp>
      <p:sp>
        <p:nvSpPr>
          <p:cNvPr id="13" name="Text 11"/>
          <p:cNvSpPr/>
          <p:nvPr/>
        </p:nvSpPr>
        <p:spPr>
          <a:xfrm>
            <a:off x="4564395" y="1863427"/>
            <a:ext cx="3062707" cy="285750"/>
          </a:xfrm>
          <a:prstGeom prst="rect">
            <a:avLst/>
          </a:prstGeom>
          <a:noFill/>
          <a:ln/>
        </p:spPr>
        <p:txBody>
          <a:bodyPr wrap="none" lIns="0" tIns="0" rIns="0" bIns="0" rtlCol="0" anchor="t"/>
          <a:lstStyle/>
          <a:p>
            <a:pPr marL="0" indent="0" algn="ctr">
              <a:lnSpc>
                <a:spcPct val="104000"/>
              </a:lnSpc>
              <a:buNone/>
            </a:pPr>
            <a:r>
              <a:rPr lang="en-US" sz="1800" b="1" kern="100" spc="-9" dirty="0">
                <a:solidFill>
                  <a:srgbClr val="1B1F4A"/>
                </a:solidFill>
                <a:latin typeface="Cabin Condensed Bold" pitchFamily="34" charset="0"/>
                <a:ea typeface="Cabin Condensed Bold" pitchFamily="34" charset="-122"/>
                <a:cs typeface="Cabin Condensed Bold" pitchFamily="34" charset="-120"/>
              </a:rPr>
              <a:t>Make a prediction</a:t>
            </a:r>
            <a:endParaRPr lang="en-US" sz="1800" dirty="0"/>
          </a:p>
        </p:txBody>
      </p:sp>
      <p:sp>
        <p:nvSpPr>
          <p:cNvPr id="14" name="Shape 12"/>
          <p:cNvSpPr/>
          <p:nvPr/>
        </p:nvSpPr>
        <p:spPr>
          <a:xfrm>
            <a:off x="7963693" y="2796877"/>
            <a:ext cx="28574" cy="431800"/>
          </a:xfrm>
          <a:prstGeom prst="roundRect">
            <a:avLst>
              <a:gd name="adj" fmla="val 50000"/>
            </a:avLst>
          </a:prstGeom>
          <a:solidFill>
            <a:srgbClr val="DEB9BC"/>
          </a:solidFill>
          <a:ln/>
        </p:spPr>
        <p:txBody>
          <a:bodyPr/>
          <a:lstStyle/>
          <a:p>
            <a:endParaRPr/>
          </a:p>
        </p:txBody>
      </p:sp>
      <p:sp>
        <p:nvSpPr>
          <p:cNvPr id="15" name="Shape 13"/>
          <p:cNvSpPr/>
          <p:nvPr/>
        </p:nvSpPr>
        <p:spPr>
          <a:xfrm>
            <a:off x="7897020" y="2715915"/>
            <a:ext cx="161921" cy="161925"/>
          </a:xfrm>
          <a:prstGeom prst="ellipse">
            <a:avLst/>
          </a:prstGeom>
          <a:solidFill>
            <a:srgbClr val="C8202F"/>
          </a:solidFill>
          <a:ln/>
        </p:spPr>
        <p:txBody>
          <a:bodyPr/>
          <a:lstStyle/>
          <a:p>
            <a:endParaRPr/>
          </a:p>
        </p:txBody>
      </p:sp>
      <p:sp>
        <p:nvSpPr>
          <p:cNvPr id="16" name="Text 14"/>
          <p:cNvSpPr/>
          <p:nvPr/>
        </p:nvSpPr>
        <p:spPr>
          <a:xfrm>
            <a:off x="6446627" y="3444577"/>
            <a:ext cx="3062707" cy="285750"/>
          </a:xfrm>
          <a:prstGeom prst="rect">
            <a:avLst/>
          </a:prstGeom>
          <a:noFill/>
          <a:ln/>
        </p:spPr>
        <p:txBody>
          <a:bodyPr wrap="none" lIns="0" tIns="0" rIns="0" bIns="0" rtlCol="0" anchor="t"/>
          <a:lstStyle/>
          <a:p>
            <a:pPr marL="0" indent="0" algn="ctr">
              <a:lnSpc>
                <a:spcPct val="104000"/>
              </a:lnSpc>
              <a:buNone/>
            </a:pPr>
            <a:r>
              <a:rPr lang="en-US" sz="1800" b="1" kern="100" spc="-9" dirty="0">
                <a:solidFill>
                  <a:srgbClr val="1B1F4A"/>
                </a:solidFill>
                <a:latin typeface="Cabin Condensed Bold" pitchFamily="34" charset="0"/>
                <a:ea typeface="Cabin Condensed Bold" pitchFamily="34" charset="-122"/>
                <a:cs typeface="Cabin Condensed Bold" pitchFamily="34" charset="-120"/>
              </a:rPr>
              <a:t>Evaluation</a:t>
            </a:r>
            <a:endParaRPr lang="en-US" sz="1800" dirty="0"/>
          </a:p>
        </p:txBody>
      </p:sp>
      <p:sp>
        <p:nvSpPr>
          <p:cNvPr id="17" name="Shape 15"/>
          <p:cNvSpPr/>
          <p:nvPr/>
        </p:nvSpPr>
        <p:spPr>
          <a:xfrm>
            <a:off x="9845925" y="2365077"/>
            <a:ext cx="28574" cy="431800"/>
          </a:xfrm>
          <a:prstGeom prst="roundRect">
            <a:avLst>
              <a:gd name="adj" fmla="val 50000"/>
            </a:avLst>
          </a:prstGeom>
          <a:solidFill>
            <a:srgbClr val="DEB9BC"/>
          </a:solidFill>
          <a:ln/>
        </p:spPr>
        <p:txBody>
          <a:bodyPr/>
          <a:lstStyle/>
          <a:p>
            <a:endParaRPr/>
          </a:p>
        </p:txBody>
      </p:sp>
      <p:sp>
        <p:nvSpPr>
          <p:cNvPr id="18" name="Shape 16"/>
          <p:cNvSpPr/>
          <p:nvPr/>
        </p:nvSpPr>
        <p:spPr>
          <a:xfrm>
            <a:off x="9779251" y="2715915"/>
            <a:ext cx="161921" cy="161925"/>
          </a:xfrm>
          <a:prstGeom prst="ellipse">
            <a:avLst/>
          </a:prstGeom>
          <a:solidFill>
            <a:srgbClr val="C8202F"/>
          </a:solidFill>
          <a:ln/>
        </p:spPr>
        <p:txBody>
          <a:bodyPr/>
          <a:lstStyle/>
          <a:p>
            <a:endParaRPr/>
          </a:p>
        </p:txBody>
      </p:sp>
      <p:sp>
        <p:nvSpPr>
          <p:cNvPr id="19" name="Text 17"/>
          <p:cNvSpPr/>
          <p:nvPr/>
        </p:nvSpPr>
        <p:spPr>
          <a:xfrm>
            <a:off x="8328809" y="1863427"/>
            <a:ext cx="3062806" cy="285750"/>
          </a:xfrm>
          <a:prstGeom prst="rect">
            <a:avLst/>
          </a:prstGeom>
          <a:noFill/>
          <a:ln/>
        </p:spPr>
        <p:txBody>
          <a:bodyPr wrap="none" lIns="0" tIns="0" rIns="0" bIns="0" rtlCol="0" anchor="t"/>
          <a:lstStyle/>
          <a:p>
            <a:pPr marL="0" indent="0" algn="ctr">
              <a:lnSpc>
                <a:spcPct val="104000"/>
              </a:lnSpc>
              <a:buNone/>
            </a:pPr>
            <a:r>
              <a:rPr lang="en-US" sz="1800" b="1" kern="100" spc="-9" dirty="0">
                <a:solidFill>
                  <a:srgbClr val="1B1F4A"/>
                </a:solidFill>
                <a:latin typeface="Cabin Condensed Bold" pitchFamily="34" charset="0"/>
                <a:ea typeface="Cabin Condensed Bold" pitchFamily="34" charset="-122"/>
                <a:cs typeface="Cabin Condensed Bold" pitchFamily="34" charset="-120"/>
              </a:rPr>
              <a:t>Support a decision</a:t>
            </a:r>
            <a:endParaRPr lang="en-US" sz="1800" dirty="0"/>
          </a:p>
        </p:txBody>
      </p:sp>
      <p:sp>
        <p:nvSpPr>
          <p:cNvPr id="20" name="Shape 18"/>
          <p:cNvSpPr/>
          <p:nvPr/>
        </p:nvSpPr>
        <p:spPr>
          <a:xfrm>
            <a:off x="584185" y="3958927"/>
            <a:ext cx="5359266" cy="1250950"/>
          </a:xfrm>
          <a:prstGeom prst="roundRect">
            <a:avLst>
              <a:gd name="adj" fmla="val 17055"/>
            </a:avLst>
          </a:prstGeom>
          <a:solidFill>
            <a:srgbClr val="F4EFE6"/>
          </a:solidFill>
          <a:ln/>
        </p:spPr>
        <p:txBody>
          <a:bodyPr/>
          <a:lstStyle/>
          <a:p>
            <a:endParaRPr/>
          </a:p>
        </p:txBody>
      </p:sp>
      <p:sp>
        <p:nvSpPr>
          <p:cNvPr id="21" name="Text 19"/>
          <p:cNvSpPr/>
          <p:nvPr/>
        </p:nvSpPr>
        <p:spPr>
          <a:xfrm>
            <a:off x="812780" y="4199434"/>
            <a:ext cx="4902077"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Tabular regression</a:t>
            </a:r>
            <a:endParaRPr lang="en-US" sz="2100" dirty="0"/>
          </a:p>
        </p:txBody>
      </p:sp>
      <p:sp>
        <p:nvSpPr>
          <p:cNvPr id="22" name="Text 20"/>
          <p:cNvSpPr/>
          <p:nvPr/>
        </p:nvSpPr>
        <p:spPr>
          <a:xfrm>
            <a:off x="812780" y="4707434"/>
            <a:ext cx="5130672" cy="276225"/>
          </a:xfrm>
          <a:prstGeom prst="rect">
            <a:avLst/>
          </a:prstGeom>
          <a:noFill/>
          <a:ln/>
        </p:spPr>
        <p:txBody>
          <a:bodyPr wrap="none" lIns="0" tIns="0" rIns="0" bIns="0" rtlCol="0" anchor="t"/>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Air-quality monitoring</a:t>
            </a:r>
            <a:endParaRPr lang="en-US" sz="1500" dirty="0"/>
          </a:p>
        </p:txBody>
      </p:sp>
      <p:sp>
        <p:nvSpPr>
          <p:cNvPr id="23" name="Shape 21"/>
          <p:cNvSpPr/>
          <p:nvPr/>
        </p:nvSpPr>
        <p:spPr>
          <a:xfrm>
            <a:off x="6248244" y="3958927"/>
            <a:ext cx="5359266" cy="1250950"/>
          </a:xfrm>
          <a:prstGeom prst="roundRect">
            <a:avLst>
              <a:gd name="adj" fmla="val 17055"/>
            </a:avLst>
          </a:prstGeom>
          <a:solidFill>
            <a:srgbClr val="EEF5F9"/>
          </a:solidFill>
          <a:ln/>
        </p:spPr>
        <p:txBody>
          <a:bodyPr/>
          <a:lstStyle/>
          <a:p>
            <a:endParaRPr/>
          </a:p>
        </p:txBody>
      </p:sp>
      <p:sp>
        <p:nvSpPr>
          <p:cNvPr id="24" name="Text 22"/>
          <p:cNvSpPr/>
          <p:nvPr/>
        </p:nvSpPr>
        <p:spPr>
          <a:xfrm>
            <a:off x="6476838" y="4199434"/>
            <a:ext cx="4902077"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Computer vision classification</a:t>
            </a:r>
            <a:endParaRPr lang="en-US" sz="2100" dirty="0"/>
          </a:p>
        </p:txBody>
      </p:sp>
      <p:sp>
        <p:nvSpPr>
          <p:cNvPr id="25" name="Text 23"/>
          <p:cNvSpPr/>
          <p:nvPr/>
        </p:nvSpPr>
        <p:spPr>
          <a:xfrm>
            <a:off x="6476838" y="4707434"/>
            <a:ext cx="5130672" cy="276225"/>
          </a:xfrm>
          <a:prstGeom prst="rect">
            <a:avLst/>
          </a:prstGeom>
          <a:noFill/>
          <a:ln/>
        </p:spPr>
        <p:txBody>
          <a:bodyPr wrap="none" lIns="0" tIns="0" rIns="0" bIns="0" rtlCol="0" anchor="t"/>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Waste sorting</a:t>
            </a:r>
            <a:endParaRPr lang="en-US" sz="15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4185" y="603187"/>
            <a:ext cx="11023324" cy="967184"/>
          </a:xfrm>
          <a:prstGeom prst="rect">
            <a:avLst/>
          </a:prstGeom>
          <a:noFill/>
          <a:ln/>
        </p:spPr>
        <p:txBody>
          <a:bodyPr wrap="square" lIns="0" tIns="0" rIns="0" bIns="0" rtlCol="0" anchor="t">
            <a:normAutofit/>
          </a:bodyPr>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Project 1 — Predicting RSPM</a:t>
            </a:r>
            <a:endParaRPr lang="en-US" sz="3400" dirty="0"/>
          </a:p>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from air-quality data</a:t>
            </a:r>
            <a:endParaRPr lang="en-US" sz="3400" dirty="0"/>
          </a:p>
        </p:txBody>
      </p:sp>
      <p:sp>
        <p:nvSpPr>
          <p:cNvPr id="3" name="Text 1"/>
          <p:cNvSpPr/>
          <p:nvPr/>
        </p:nvSpPr>
        <p:spPr>
          <a:xfrm>
            <a:off x="584185" y="1805384"/>
            <a:ext cx="11607510" cy="313035"/>
          </a:xfrm>
          <a:prstGeom prst="rect">
            <a:avLst/>
          </a:prstGeom>
          <a:noFill/>
          <a:ln/>
        </p:spPr>
        <p:txBody>
          <a:bodyPr wrap="none" lIns="0" tIns="0" rIns="0" bIns="0" rtlCol="0" anchor="t"/>
          <a:lstStyle/>
          <a:p>
            <a:pPr marL="0" indent="0" algn="l">
              <a:lnSpc>
                <a:spcPct val="121000"/>
              </a:lnSpc>
              <a:buNone/>
            </a:pPr>
            <a:r>
              <a:rPr lang="en-US" sz="1700" dirty="0">
                <a:solidFill>
                  <a:srgbClr val="1B1F4A"/>
                </a:solidFill>
                <a:latin typeface="Merriweather Sans" pitchFamily="34" charset="0"/>
                <a:ea typeface="Merriweather Sans" pitchFamily="34" charset="-122"/>
                <a:cs typeface="Merriweather Sans" pitchFamily="34" charset="-120"/>
              </a:rPr>
              <a:t>The goal is to estimate RSPM from pollutant readings, location details and date-related features.</a:t>
            </a:r>
            <a:endParaRPr lang="en-US" sz="1700" dirty="0"/>
          </a:p>
        </p:txBody>
      </p:sp>
      <p:sp>
        <p:nvSpPr>
          <p:cNvPr id="4" name="Shape 2"/>
          <p:cNvSpPr/>
          <p:nvPr/>
        </p:nvSpPr>
        <p:spPr>
          <a:xfrm>
            <a:off x="584185" y="4166890"/>
            <a:ext cx="3471180" cy="2106910"/>
          </a:xfrm>
          <a:prstGeom prst="roundRect">
            <a:avLst>
              <a:gd name="adj" fmla="val 10126"/>
            </a:avLst>
          </a:prstGeom>
          <a:solidFill>
            <a:srgbClr val="F4EFE6"/>
          </a:solidFill>
          <a:ln/>
        </p:spPr>
        <p:txBody>
          <a:bodyPr/>
          <a:lstStyle/>
          <a:p>
            <a:endParaRPr/>
          </a:p>
        </p:txBody>
      </p:sp>
      <p:sp>
        <p:nvSpPr>
          <p:cNvPr id="5" name="Text 3"/>
          <p:cNvSpPr/>
          <p:nvPr/>
        </p:nvSpPr>
        <p:spPr>
          <a:xfrm>
            <a:off x="888978" y="4546180"/>
            <a:ext cx="2861596" cy="640060"/>
          </a:xfrm>
          <a:prstGeom prst="rect">
            <a:avLst/>
          </a:prstGeom>
          <a:noFill/>
          <a:ln/>
        </p:spPr>
        <p:txBody>
          <a:bodyPr wrap="none" lIns="0" tIns="0" rIns="0" bIns="0" rtlCol="0" anchor="t"/>
          <a:lstStyle/>
          <a:p>
            <a:pPr marL="0" indent="0" algn="l">
              <a:lnSpc>
                <a:spcPct val="88000"/>
              </a:lnSpc>
              <a:buNone/>
            </a:pPr>
            <a:r>
              <a:rPr lang="en-US" sz="4800" b="1" kern="100" spc="-48" dirty="0">
                <a:solidFill>
                  <a:srgbClr val="C8202F"/>
                </a:solidFill>
                <a:latin typeface="Cabin Condensed Bold" pitchFamily="34" charset="0"/>
                <a:ea typeface="Cabin Condensed Bold" pitchFamily="34" charset="-122"/>
                <a:cs typeface="Cabin Condensed Bold" pitchFamily="34" charset="-120"/>
              </a:rPr>
              <a:t>50,000</a:t>
            </a:r>
            <a:endParaRPr lang="en-US" sz="4800" dirty="0"/>
          </a:p>
        </p:txBody>
      </p:sp>
      <p:sp>
        <p:nvSpPr>
          <p:cNvPr id="6" name="Text 4"/>
          <p:cNvSpPr/>
          <p:nvPr/>
        </p:nvSpPr>
        <p:spPr>
          <a:xfrm>
            <a:off x="888978" y="5393531"/>
            <a:ext cx="3166388" cy="276225"/>
          </a:xfrm>
          <a:prstGeom prst="rect">
            <a:avLst/>
          </a:prstGeom>
          <a:noFill/>
          <a:ln/>
        </p:spPr>
        <p:txBody>
          <a:bodyPr wrap="none" lIns="0" tIns="0" rIns="0" bIns="0" rtlCol="0" anchor="t"/>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rows in the dataset</a:t>
            </a:r>
            <a:endParaRPr lang="en-US" sz="1500" dirty="0"/>
          </a:p>
        </p:txBody>
      </p:sp>
      <p:sp>
        <p:nvSpPr>
          <p:cNvPr id="7" name="Shape 5"/>
          <p:cNvSpPr/>
          <p:nvPr/>
        </p:nvSpPr>
        <p:spPr>
          <a:xfrm>
            <a:off x="4360158" y="4166890"/>
            <a:ext cx="3471280" cy="2106910"/>
          </a:xfrm>
          <a:prstGeom prst="roundRect">
            <a:avLst>
              <a:gd name="adj" fmla="val 10126"/>
            </a:avLst>
          </a:prstGeom>
          <a:solidFill>
            <a:srgbClr val="F4EFE6"/>
          </a:solidFill>
          <a:ln/>
        </p:spPr>
        <p:txBody>
          <a:bodyPr/>
          <a:lstStyle/>
          <a:p>
            <a:endParaRPr/>
          </a:p>
        </p:txBody>
      </p:sp>
      <p:sp>
        <p:nvSpPr>
          <p:cNvPr id="8" name="Text 6"/>
          <p:cNvSpPr/>
          <p:nvPr/>
        </p:nvSpPr>
        <p:spPr>
          <a:xfrm>
            <a:off x="4664950" y="4546180"/>
            <a:ext cx="2861695" cy="640060"/>
          </a:xfrm>
          <a:prstGeom prst="rect">
            <a:avLst/>
          </a:prstGeom>
          <a:noFill/>
          <a:ln/>
        </p:spPr>
        <p:txBody>
          <a:bodyPr wrap="none" lIns="0" tIns="0" rIns="0" bIns="0" rtlCol="0" anchor="t"/>
          <a:lstStyle/>
          <a:p>
            <a:pPr marL="0" indent="0" algn="l">
              <a:lnSpc>
                <a:spcPct val="88000"/>
              </a:lnSpc>
              <a:buNone/>
            </a:pPr>
            <a:r>
              <a:rPr lang="en-US" sz="4800" b="1" kern="100" spc="-48" dirty="0">
                <a:solidFill>
                  <a:srgbClr val="000000"/>
                </a:solidFill>
                <a:latin typeface="Cabin Condensed Bold" pitchFamily="34" charset="0"/>
                <a:ea typeface="Cabin Condensed Bold" pitchFamily="34" charset="-122"/>
                <a:cs typeface="Cabin Condensed Bold" pitchFamily="34" charset="-120"/>
              </a:rPr>
              <a:t>13</a:t>
            </a:r>
            <a:endParaRPr lang="en-US" sz="4800" dirty="0"/>
          </a:p>
        </p:txBody>
      </p:sp>
      <p:sp>
        <p:nvSpPr>
          <p:cNvPr id="9" name="Text 7"/>
          <p:cNvSpPr/>
          <p:nvPr/>
        </p:nvSpPr>
        <p:spPr>
          <a:xfrm>
            <a:off x="4664950" y="5393531"/>
            <a:ext cx="2861695"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columns to work with</a:t>
            </a:r>
            <a:endParaRPr lang="en-US" sz="1500" dirty="0"/>
          </a:p>
        </p:txBody>
      </p:sp>
      <p:sp>
        <p:nvSpPr>
          <p:cNvPr id="10" name="Shape 8"/>
          <p:cNvSpPr/>
          <p:nvPr/>
        </p:nvSpPr>
        <p:spPr>
          <a:xfrm>
            <a:off x="8136230" y="4166890"/>
            <a:ext cx="3471280" cy="2106910"/>
          </a:xfrm>
          <a:prstGeom prst="roundRect">
            <a:avLst>
              <a:gd name="adj" fmla="val 10126"/>
            </a:avLst>
          </a:prstGeom>
          <a:solidFill>
            <a:srgbClr val="F4EFE6"/>
          </a:solidFill>
          <a:ln/>
        </p:spPr>
        <p:txBody>
          <a:bodyPr/>
          <a:lstStyle/>
          <a:p>
            <a:endParaRPr/>
          </a:p>
        </p:txBody>
      </p:sp>
      <p:sp>
        <p:nvSpPr>
          <p:cNvPr id="11" name="Text 9"/>
          <p:cNvSpPr/>
          <p:nvPr/>
        </p:nvSpPr>
        <p:spPr>
          <a:xfrm>
            <a:off x="8441022" y="4508996"/>
            <a:ext cx="2861695"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Linear Regression</a:t>
            </a:r>
            <a:endParaRPr lang="en-US" sz="2100" dirty="0"/>
          </a:p>
        </p:txBody>
      </p:sp>
      <p:sp>
        <p:nvSpPr>
          <p:cNvPr id="12" name="Text 10"/>
          <p:cNvSpPr/>
          <p:nvPr/>
        </p:nvSpPr>
        <p:spPr>
          <a:xfrm>
            <a:off x="8441022" y="5016996"/>
            <a:ext cx="2861695" cy="552450"/>
          </a:xfrm>
          <a:prstGeom prst="rect">
            <a:avLst/>
          </a:prstGeom>
          <a:noFill/>
          <a:ln/>
        </p:spPr>
        <p:txBody>
          <a:bodyPr wrap="square" lIns="0" tIns="0" rIns="0" bIns="0" rtlCol="0" anchor="t">
            <a:normAutofit fontScale="77500" lnSpcReduction="20000"/>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We use Linear Regression in a preprocessing pipeline, with RSPM as the value to predict.</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84185" y="501587"/>
            <a:ext cx="4317892" cy="1450777"/>
          </a:xfrm>
          <a:prstGeom prst="rect">
            <a:avLst/>
          </a:prstGeom>
          <a:noFill/>
          <a:ln/>
        </p:spPr>
        <p:txBody>
          <a:bodyPr wrap="square" lIns="0" tIns="0" rIns="0" bIns="0" rtlCol="0" anchor="t">
            <a:normAutofit/>
          </a:bodyPr>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The air-quality data was useful,</a:t>
            </a:r>
            <a:endParaRPr lang="en-US" sz="3400" dirty="0"/>
          </a:p>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but had gaps</a:t>
            </a:r>
            <a:endParaRPr lang="en-US" sz="3400" dirty="0"/>
          </a:p>
        </p:txBody>
      </p:sp>
      <p:sp>
        <p:nvSpPr>
          <p:cNvPr id="3" name="Text 1"/>
          <p:cNvSpPr/>
          <p:nvPr/>
        </p:nvSpPr>
        <p:spPr>
          <a:xfrm>
            <a:off x="584185" y="2187377"/>
            <a:ext cx="4317892" cy="626070"/>
          </a:xfrm>
          <a:prstGeom prst="rect">
            <a:avLst/>
          </a:prstGeom>
          <a:noFill/>
          <a:ln/>
        </p:spPr>
        <p:txBody>
          <a:bodyPr wrap="square" lIns="0" tIns="0" rIns="0" bIns="0" rtlCol="0" anchor="t">
            <a:normAutofit fontScale="92500"/>
          </a:bodyPr>
          <a:lstStyle/>
          <a:p>
            <a:pPr marL="0" indent="0" algn="l">
              <a:lnSpc>
                <a:spcPct val="121000"/>
              </a:lnSpc>
              <a:buNone/>
            </a:pPr>
            <a:r>
              <a:rPr lang="en-US" sz="1700" dirty="0">
                <a:solidFill>
                  <a:srgbClr val="1B1F4A"/>
                </a:solidFill>
                <a:latin typeface="Merriweather Sans" pitchFamily="34" charset="0"/>
                <a:ea typeface="Merriweather Sans" pitchFamily="34" charset="-122"/>
                <a:cs typeface="Merriweather Sans" pitchFamily="34" charset="-120"/>
              </a:rPr>
              <a:t>Some important readings are missing, so cleaning the data is a key part of this project.</a:t>
            </a:r>
            <a:endParaRPr lang="en-US" sz="1700" dirty="0"/>
          </a:p>
        </p:txBody>
      </p:sp>
      <p:sp>
        <p:nvSpPr>
          <p:cNvPr id="4" name="Shape 2"/>
          <p:cNvSpPr/>
          <p:nvPr/>
        </p:nvSpPr>
        <p:spPr>
          <a:xfrm>
            <a:off x="584185" y="3224113"/>
            <a:ext cx="1337634" cy="2806005"/>
          </a:xfrm>
          <a:prstGeom prst="roundRect">
            <a:avLst>
              <a:gd name="adj" fmla="val 14526"/>
            </a:avLst>
          </a:prstGeom>
          <a:solidFill>
            <a:srgbClr val="F4EFE6"/>
          </a:solidFill>
          <a:ln w="25399">
            <a:solidFill>
              <a:srgbClr val="DEB9BC"/>
            </a:solidFill>
            <a:prstDash val="solid"/>
          </a:ln>
        </p:spPr>
        <p:txBody>
          <a:bodyPr/>
          <a:lstStyle/>
          <a:p>
            <a:endParaRPr/>
          </a:p>
        </p:txBody>
      </p:sp>
      <p:sp>
        <p:nvSpPr>
          <p:cNvPr id="5" name="Shape 3"/>
          <p:cNvSpPr/>
          <p:nvPr/>
        </p:nvSpPr>
        <p:spPr>
          <a:xfrm>
            <a:off x="609585" y="3249513"/>
            <a:ext cx="1286835" cy="647700"/>
          </a:xfrm>
          <a:custGeom>
            <a:avLst/>
            <a:gdLst/>
            <a:ahLst/>
            <a:cxnLst/>
            <a:rect l="l" t="t" r="r" b="b"/>
            <a:pathLst>
              <a:path w="1286835" h="647700">
                <a:moveTo>
                  <a:pt x="133347" y="0"/>
                </a:moveTo>
                <a:lnTo>
                  <a:pt x="1153488" y="0"/>
                </a:lnTo>
                <a:arcTo wR="133347" hR="133350" stAng="16200000" swAng="5400000"/>
                <a:lnTo>
                  <a:pt x="1286835" y="647700"/>
                </a:lnTo>
                <a:lnTo>
                  <a:pt x="0" y="647700"/>
                </a:lnTo>
                <a:lnTo>
                  <a:pt x="0" y="133350"/>
                </a:lnTo>
                <a:arcTo wR="133347" hR="133350" stAng="10800000" swAng="5400000"/>
                <a:close/>
              </a:path>
            </a:pathLst>
          </a:custGeom>
          <a:solidFill>
            <a:srgbClr val="F8D3D6"/>
          </a:solidFill>
          <a:ln/>
        </p:spPr>
        <p:txBody>
          <a:bodyPr/>
          <a:lstStyle/>
          <a:p>
            <a:endParaRPr/>
          </a:p>
        </p:txBody>
      </p:sp>
      <p:sp>
        <p:nvSpPr>
          <p:cNvPr id="6" name="Text 4"/>
          <p:cNvSpPr/>
          <p:nvPr/>
        </p:nvSpPr>
        <p:spPr>
          <a:xfrm>
            <a:off x="1178590" y="3411438"/>
            <a:ext cx="743229" cy="323850"/>
          </a:xfrm>
          <a:prstGeom prst="rect">
            <a:avLst/>
          </a:prstGeom>
          <a:noFill/>
          <a:ln/>
        </p:spPr>
        <p:txBody>
          <a:bodyPr wrap="none" lIns="0" tIns="0" rIns="0" bIns="0" rtlCol="0" anchor="t"/>
          <a:lstStyle/>
          <a:p>
            <a:pPr marL="0" indent="0" algn="l">
              <a:lnSpc>
                <a:spcPct val="83000"/>
              </a:lnSpc>
              <a:buNone/>
            </a:pPr>
            <a:r>
              <a:rPr lang="en-US" sz="2550" dirty="0">
                <a:solidFill>
                  <a:srgbClr val="1B1F4A"/>
                </a:solidFill>
                <a:latin typeface="Merriweather Sans SemiBold" pitchFamily="34" charset="0"/>
                <a:ea typeface="Merriweather Sans SemiBold" pitchFamily="34" charset="-122"/>
                <a:cs typeface="Merriweather Sans SemiBold" pitchFamily="34" charset="-120"/>
              </a:rPr>
              <a:t>1</a:t>
            </a:r>
            <a:endParaRPr lang="en-US" sz="2550" dirty="0"/>
          </a:p>
        </p:txBody>
      </p:sp>
      <p:sp>
        <p:nvSpPr>
          <p:cNvPr id="7" name="Text 5"/>
          <p:cNvSpPr/>
          <p:nvPr/>
        </p:nvSpPr>
        <p:spPr>
          <a:xfrm>
            <a:off x="825479" y="4010720"/>
            <a:ext cx="855046"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PM2.5</a:t>
            </a:r>
            <a:endParaRPr lang="en-US" sz="2100" dirty="0"/>
          </a:p>
        </p:txBody>
      </p:sp>
      <p:sp>
        <p:nvSpPr>
          <p:cNvPr id="8" name="Text 6"/>
          <p:cNvSpPr/>
          <p:nvPr/>
        </p:nvSpPr>
        <p:spPr>
          <a:xfrm>
            <a:off x="825479" y="4516338"/>
            <a:ext cx="855046"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C8202F"/>
                </a:solidFill>
                <a:latin typeface="Merriweather Sans" pitchFamily="34" charset="0"/>
                <a:ea typeface="Merriweather Sans" pitchFamily="34" charset="-122"/>
                <a:cs typeface="Merriweather Sans" pitchFamily="34" charset="-120"/>
              </a:rPr>
              <a:t>97.72%</a:t>
            </a:r>
            <a:r>
              <a:rPr lang="en-US" sz="1700" dirty="0">
                <a:solidFill>
                  <a:srgbClr val="000000"/>
                </a:solidFill>
                <a:latin typeface="Merriweather Sans" pitchFamily="34" charset="0"/>
                <a:ea typeface="Merriweather Sans" pitchFamily="34" charset="-122"/>
                <a:cs typeface="Merriweather Sans" pitchFamily="34" charset="-120"/>
              </a:rPr>
              <a:t> missing</a:t>
            </a:r>
            <a:endParaRPr lang="en-US" sz="1700" dirty="0"/>
          </a:p>
        </p:txBody>
      </p:sp>
      <p:sp>
        <p:nvSpPr>
          <p:cNvPr id="9" name="Shape 7"/>
          <p:cNvSpPr/>
          <p:nvPr/>
        </p:nvSpPr>
        <p:spPr>
          <a:xfrm>
            <a:off x="2074215" y="3224113"/>
            <a:ext cx="1337733" cy="2806005"/>
          </a:xfrm>
          <a:prstGeom prst="roundRect">
            <a:avLst>
              <a:gd name="adj" fmla="val 14525"/>
            </a:avLst>
          </a:prstGeom>
          <a:solidFill>
            <a:srgbClr val="F4EFE6"/>
          </a:solidFill>
          <a:ln w="25399">
            <a:solidFill>
              <a:srgbClr val="DEB9BC"/>
            </a:solidFill>
            <a:prstDash val="solid"/>
          </a:ln>
        </p:spPr>
        <p:txBody>
          <a:bodyPr/>
          <a:lstStyle/>
          <a:p>
            <a:endParaRPr/>
          </a:p>
        </p:txBody>
      </p:sp>
      <p:sp>
        <p:nvSpPr>
          <p:cNvPr id="10" name="Shape 8"/>
          <p:cNvSpPr/>
          <p:nvPr/>
        </p:nvSpPr>
        <p:spPr>
          <a:xfrm>
            <a:off x="2099615" y="3249513"/>
            <a:ext cx="1286934" cy="647700"/>
          </a:xfrm>
          <a:custGeom>
            <a:avLst/>
            <a:gdLst/>
            <a:ahLst/>
            <a:cxnLst/>
            <a:rect l="l" t="t" r="r" b="b"/>
            <a:pathLst>
              <a:path w="1286934" h="647700">
                <a:moveTo>
                  <a:pt x="133347" y="0"/>
                </a:moveTo>
                <a:lnTo>
                  <a:pt x="1153588" y="0"/>
                </a:lnTo>
                <a:arcTo wR="133347" hR="133350" stAng="16200000" swAng="5400000"/>
                <a:lnTo>
                  <a:pt x="1286934" y="647700"/>
                </a:lnTo>
                <a:lnTo>
                  <a:pt x="0" y="647700"/>
                </a:lnTo>
                <a:lnTo>
                  <a:pt x="0" y="133350"/>
                </a:lnTo>
                <a:arcTo wR="133347" hR="133350" stAng="10800000" swAng="5400000"/>
                <a:close/>
              </a:path>
            </a:pathLst>
          </a:custGeom>
          <a:solidFill>
            <a:srgbClr val="F8D3D6"/>
          </a:solidFill>
          <a:ln/>
        </p:spPr>
        <p:txBody>
          <a:bodyPr/>
          <a:lstStyle/>
          <a:p>
            <a:endParaRPr/>
          </a:p>
        </p:txBody>
      </p:sp>
      <p:sp>
        <p:nvSpPr>
          <p:cNvPr id="11" name="Text 9"/>
          <p:cNvSpPr/>
          <p:nvPr/>
        </p:nvSpPr>
        <p:spPr>
          <a:xfrm>
            <a:off x="2643518" y="3411438"/>
            <a:ext cx="768430" cy="323850"/>
          </a:xfrm>
          <a:prstGeom prst="rect">
            <a:avLst/>
          </a:prstGeom>
          <a:noFill/>
          <a:ln/>
        </p:spPr>
        <p:txBody>
          <a:bodyPr wrap="none" lIns="0" tIns="0" rIns="0" bIns="0" rtlCol="0" anchor="t"/>
          <a:lstStyle/>
          <a:p>
            <a:pPr marL="0" indent="0" algn="l">
              <a:lnSpc>
                <a:spcPct val="83000"/>
              </a:lnSpc>
              <a:buNone/>
            </a:pPr>
            <a:r>
              <a:rPr lang="en-US" sz="2550" dirty="0">
                <a:solidFill>
                  <a:srgbClr val="1B1F4A"/>
                </a:solidFill>
                <a:latin typeface="Merriweather Sans SemiBold" pitchFamily="34" charset="0"/>
                <a:ea typeface="Merriweather Sans SemiBold" pitchFamily="34" charset="-122"/>
                <a:cs typeface="Merriweather Sans SemiBold" pitchFamily="34" charset="-120"/>
              </a:rPr>
              <a:t>2</a:t>
            </a:r>
            <a:endParaRPr lang="en-US" sz="2550" dirty="0"/>
          </a:p>
        </p:txBody>
      </p:sp>
      <p:sp>
        <p:nvSpPr>
          <p:cNvPr id="12" name="Text 10"/>
          <p:cNvSpPr/>
          <p:nvPr/>
        </p:nvSpPr>
        <p:spPr>
          <a:xfrm>
            <a:off x="2315509" y="4010720"/>
            <a:ext cx="855145"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SPM</a:t>
            </a:r>
            <a:endParaRPr lang="en-US" sz="2100" dirty="0"/>
          </a:p>
        </p:txBody>
      </p:sp>
      <p:sp>
        <p:nvSpPr>
          <p:cNvPr id="13" name="Text 11"/>
          <p:cNvSpPr/>
          <p:nvPr/>
        </p:nvSpPr>
        <p:spPr>
          <a:xfrm>
            <a:off x="2315509" y="4516338"/>
            <a:ext cx="855145"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C8202F"/>
                </a:solidFill>
                <a:latin typeface="Merriweather Sans" pitchFamily="34" charset="0"/>
                <a:ea typeface="Merriweather Sans" pitchFamily="34" charset="-122"/>
                <a:cs typeface="Merriweather Sans" pitchFamily="34" charset="-120"/>
              </a:rPr>
              <a:t>57.79%</a:t>
            </a:r>
            <a:r>
              <a:rPr lang="en-US" sz="1700" dirty="0">
                <a:solidFill>
                  <a:srgbClr val="000000"/>
                </a:solidFill>
                <a:latin typeface="Merriweather Sans" pitchFamily="34" charset="0"/>
                <a:ea typeface="Merriweather Sans" pitchFamily="34" charset="-122"/>
                <a:cs typeface="Merriweather Sans" pitchFamily="34" charset="-120"/>
              </a:rPr>
              <a:t> missing</a:t>
            </a:r>
            <a:endParaRPr lang="en-US" sz="1700" dirty="0"/>
          </a:p>
        </p:txBody>
      </p:sp>
      <p:sp>
        <p:nvSpPr>
          <p:cNvPr id="14" name="Shape 12"/>
          <p:cNvSpPr/>
          <p:nvPr/>
        </p:nvSpPr>
        <p:spPr>
          <a:xfrm>
            <a:off x="3564344" y="3224113"/>
            <a:ext cx="1337733" cy="2806005"/>
          </a:xfrm>
          <a:prstGeom prst="roundRect">
            <a:avLst>
              <a:gd name="adj" fmla="val 14525"/>
            </a:avLst>
          </a:prstGeom>
          <a:solidFill>
            <a:srgbClr val="F4EFE6"/>
          </a:solidFill>
          <a:ln w="25399">
            <a:solidFill>
              <a:srgbClr val="DEB9BC"/>
            </a:solidFill>
            <a:prstDash val="solid"/>
          </a:ln>
        </p:spPr>
        <p:txBody>
          <a:bodyPr/>
          <a:lstStyle/>
          <a:p>
            <a:endParaRPr/>
          </a:p>
        </p:txBody>
      </p:sp>
      <p:sp>
        <p:nvSpPr>
          <p:cNvPr id="15" name="Shape 13"/>
          <p:cNvSpPr/>
          <p:nvPr/>
        </p:nvSpPr>
        <p:spPr>
          <a:xfrm>
            <a:off x="3589744" y="3249513"/>
            <a:ext cx="1286934" cy="647700"/>
          </a:xfrm>
          <a:custGeom>
            <a:avLst/>
            <a:gdLst/>
            <a:ahLst/>
            <a:cxnLst/>
            <a:rect l="l" t="t" r="r" b="b"/>
            <a:pathLst>
              <a:path w="1286934" h="647700">
                <a:moveTo>
                  <a:pt x="133347" y="0"/>
                </a:moveTo>
                <a:lnTo>
                  <a:pt x="1153588" y="0"/>
                </a:lnTo>
                <a:arcTo wR="133347" hR="133350" stAng="16200000" swAng="5400000"/>
                <a:lnTo>
                  <a:pt x="1286934" y="647700"/>
                </a:lnTo>
                <a:lnTo>
                  <a:pt x="0" y="647700"/>
                </a:lnTo>
                <a:lnTo>
                  <a:pt x="0" y="133350"/>
                </a:lnTo>
                <a:arcTo wR="133347" hR="133350" stAng="10800000" swAng="5400000"/>
                <a:close/>
              </a:path>
            </a:pathLst>
          </a:custGeom>
          <a:solidFill>
            <a:srgbClr val="F8D3D6"/>
          </a:solidFill>
          <a:ln/>
        </p:spPr>
        <p:txBody>
          <a:bodyPr/>
          <a:lstStyle/>
          <a:p>
            <a:endParaRPr/>
          </a:p>
        </p:txBody>
      </p:sp>
      <p:sp>
        <p:nvSpPr>
          <p:cNvPr id="16" name="Text 14"/>
          <p:cNvSpPr/>
          <p:nvPr/>
        </p:nvSpPr>
        <p:spPr>
          <a:xfrm>
            <a:off x="4140692" y="3411438"/>
            <a:ext cx="761386" cy="323850"/>
          </a:xfrm>
          <a:prstGeom prst="rect">
            <a:avLst/>
          </a:prstGeom>
          <a:noFill/>
          <a:ln/>
        </p:spPr>
        <p:txBody>
          <a:bodyPr wrap="none" lIns="0" tIns="0" rIns="0" bIns="0" rtlCol="0" anchor="t"/>
          <a:lstStyle/>
          <a:p>
            <a:pPr marL="0" indent="0" algn="l">
              <a:lnSpc>
                <a:spcPct val="83000"/>
              </a:lnSpc>
              <a:buNone/>
            </a:pPr>
            <a:r>
              <a:rPr lang="en-US" sz="2550" dirty="0">
                <a:solidFill>
                  <a:srgbClr val="1B1F4A"/>
                </a:solidFill>
                <a:latin typeface="Merriweather Sans SemiBold" pitchFamily="34" charset="0"/>
                <a:ea typeface="Merriweather Sans SemiBold" pitchFamily="34" charset="-122"/>
                <a:cs typeface="Merriweather Sans SemiBold" pitchFamily="34" charset="-120"/>
              </a:rPr>
              <a:t>3</a:t>
            </a:r>
            <a:endParaRPr lang="en-US" sz="2550" dirty="0"/>
          </a:p>
        </p:txBody>
      </p:sp>
      <p:sp>
        <p:nvSpPr>
          <p:cNvPr id="17" name="Text 15"/>
          <p:cNvSpPr/>
          <p:nvPr/>
        </p:nvSpPr>
        <p:spPr>
          <a:xfrm>
            <a:off x="3805638" y="4010720"/>
            <a:ext cx="855145" cy="666750"/>
          </a:xfrm>
          <a:prstGeom prst="rect">
            <a:avLst/>
          </a:prstGeom>
          <a:noFill/>
          <a:ln/>
        </p:spPr>
        <p:txBody>
          <a:bodyPr wrap="square" lIns="0" tIns="0" rIns="0" bIns="0" rtlCol="0" anchor="t">
            <a:normAutofit/>
          </a:bodyPr>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SO2 · NO2</a:t>
            </a:r>
            <a:endParaRPr lang="en-US" sz="2100" dirty="0"/>
          </a:p>
        </p:txBody>
      </p:sp>
      <p:sp>
        <p:nvSpPr>
          <p:cNvPr id="18" name="Text 16"/>
          <p:cNvSpPr/>
          <p:nvPr/>
        </p:nvSpPr>
        <p:spPr>
          <a:xfrm>
            <a:off x="3805638" y="4849713"/>
            <a:ext cx="855145" cy="939105"/>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C8202F"/>
                </a:solidFill>
                <a:latin typeface="Merriweather Sans" pitchFamily="34" charset="0"/>
                <a:ea typeface="Merriweather Sans" pitchFamily="34" charset="-122"/>
                <a:cs typeface="Merriweather Sans" pitchFamily="34" charset="-120"/>
              </a:rPr>
              <a:t>7.37% · 2.90%</a:t>
            </a:r>
            <a:r>
              <a:rPr lang="en-US" sz="1700" dirty="0">
                <a:solidFill>
                  <a:srgbClr val="000000"/>
                </a:solidFill>
                <a:latin typeface="Merriweather Sans" pitchFamily="34" charset="0"/>
                <a:ea typeface="Merriweather Sans" pitchFamily="34" charset="-122"/>
                <a:cs typeface="Merriweather Sans" pitchFamily="34" charset="-120"/>
              </a:rPr>
              <a:t> missing</a:t>
            </a:r>
            <a:endParaRPr lang="en-US" sz="1700" dirty="0"/>
          </a:p>
        </p:txBody>
      </p:sp>
      <p:sp>
        <p:nvSpPr>
          <p:cNvPr id="19" name="Text 17"/>
          <p:cNvSpPr/>
          <p:nvPr/>
        </p:nvSpPr>
        <p:spPr>
          <a:xfrm>
            <a:off x="584185" y="6271101"/>
            <a:ext cx="4317892" cy="396081"/>
          </a:xfrm>
          <a:prstGeom prst="rect">
            <a:avLst/>
          </a:prstGeom>
          <a:noFill/>
          <a:ln/>
        </p:spPr>
        <p:txBody>
          <a:bodyPr wrap="square" lIns="0" tIns="0" rIns="0" bIns="0" rtlCol="0" anchor="t">
            <a:normAutofit/>
          </a:bodyPr>
          <a:lstStyle/>
          <a:p>
            <a:pPr marL="0" indent="0" algn="l">
              <a:lnSpc>
                <a:spcPct val="108000"/>
              </a:lnSpc>
              <a:buNone/>
            </a:pPr>
            <a:r>
              <a:rPr lang="en-US" sz="1200" kern="100" spc="72" dirty="0">
                <a:solidFill>
                  <a:srgbClr val="3A4562"/>
                </a:solidFill>
                <a:latin typeface="Roboto Mono Medium" pitchFamily="34" charset="0"/>
                <a:ea typeface="Roboto Mono Medium" pitchFamily="34" charset="-122"/>
                <a:cs typeface="Roboto Mono Medium" pitchFamily="34" charset="-120"/>
              </a:rPr>
              <a:t>10 DUPLICATES REMOVED · 49,990 ROWS WITH VALID RSPM KEPT</a:t>
            </a:r>
            <a:endParaRPr lang="en-US" sz="1200" dirty="0"/>
          </a:p>
        </p:txBody>
      </p:sp>
      <p:pic>
        <p:nvPicPr>
          <p:cNvPr id="20" name="Image 0" descr="preencoded.png"/>
          <p:cNvPicPr>
            <a:picLocks noChangeAspect="1"/>
          </p:cNvPicPr>
          <p:nvPr/>
        </p:nvPicPr>
        <p:blipFill>
          <a:blip r:embed="rId3"/>
          <a:stretch>
            <a:fillRect/>
          </a:stretch>
        </p:blipFill>
        <p:spPr>
          <a:xfrm>
            <a:off x="5486263" y="0"/>
            <a:ext cx="6705432" cy="6858000"/>
          </a:xfrm>
          <a:prstGeom prst="rect">
            <a:avLst/>
          </a:prstGeom>
        </p:spPr>
      </p:pic>
      <p:pic>
        <p:nvPicPr>
          <p:cNvPr id="21" name="Image 1" descr="preencoded.png"/>
          <p:cNvPicPr>
            <a:picLocks noChangeAspect="1"/>
          </p:cNvPicPr>
          <p:nvPr/>
        </p:nvPicPr>
        <p:blipFill>
          <a:blip r:embed="rId4"/>
          <a:stretch>
            <a:fillRect/>
          </a:stretch>
        </p:blipFill>
        <p:spPr>
          <a:xfrm>
            <a:off x="5638659" y="152400"/>
            <a:ext cx="6400640" cy="6553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84185" y="603187"/>
            <a:ext cx="11023324" cy="483592"/>
          </a:xfrm>
          <a:prstGeom prst="rect">
            <a:avLst/>
          </a:prstGeom>
          <a:noFill/>
          <a:ln/>
        </p:spPr>
        <p:txBody>
          <a:bodyPr wrap="none" lIns="0" tIns="0" rIns="0" bIns="0" rtlCol="0" anchor="t"/>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Getting the data ready for the model</a:t>
            </a:r>
            <a:endParaRPr lang="en-US" sz="3400" dirty="0"/>
          </a:p>
        </p:txBody>
      </p:sp>
      <p:sp>
        <p:nvSpPr>
          <p:cNvPr id="3" name="Shape 1"/>
          <p:cNvSpPr/>
          <p:nvPr/>
        </p:nvSpPr>
        <p:spPr>
          <a:xfrm>
            <a:off x="584185" y="1321792"/>
            <a:ext cx="330192" cy="330200"/>
          </a:xfrm>
          <a:prstGeom prst="ellipse">
            <a:avLst/>
          </a:prstGeom>
          <a:solidFill>
            <a:srgbClr val="C8202F"/>
          </a:solidFill>
          <a:ln/>
        </p:spPr>
        <p:txBody>
          <a:bodyPr/>
          <a:lstStyle/>
          <a:p>
            <a:endParaRPr/>
          </a:p>
        </p:txBody>
      </p:sp>
      <p:sp>
        <p:nvSpPr>
          <p:cNvPr id="4" name="Text 2"/>
          <p:cNvSpPr/>
          <p:nvPr/>
        </p:nvSpPr>
        <p:spPr>
          <a:xfrm>
            <a:off x="645997" y="1397992"/>
            <a:ext cx="816153"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01</a:t>
            </a:r>
            <a:endParaRPr lang="en-US" sz="1400" dirty="0"/>
          </a:p>
        </p:txBody>
      </p:sp>
      <p:sp>
        <p:nvSpPr>
          <p:cNvPr id="5" name="Shape 3"/>
          <p:cNvSpPr/>
          <p:nvPr/>
        </p:nvSpPr>
        <p:spPr>
          <a:xfrm>
            <a:off x="584185" y="1738313"/>
            <a:ext cx="5359266" cy="19050"/>
          </a:xfrm>
          <a:prstGeom prst="rect">
            <a:avLst/>
          </a:prstGeom>
          <a:solidFill>
            <a:srgbClr val="C8202F"/>
          </a:solidFill>
          <a:ln/>
        </p:spPr>
        <p:txBody>
          <a:bodyPr/>
          <a:lstStyle/>
          <a:p>
            <a:endParaRPr/>
          </a:p>
        </p:txBody>
      </p:sp>
      <p:sp>
        <p:nvSpPr>
          <p:cNvPr id="6" name="Text 4"/>
          <p:cNvSpPr/>
          <p:nvPr/>
        </p:nvSpPr>
        <p:spPr>
          <a:xfrm>
            <a:off x="584185" y="1898749"/>
            <a:ext cx="5359266" cy="333375"/>
          </a:xfrm>
          <a:prstGeom prst="rect">
            <a:avLst/>
          </a:prstGeom>
          <a:noFill/>
          <a:ln/>
        </p:spPr>
        <p:txBody>
          <a:bodyPr wrap="none" lIns="0" tIns="0" rIns="0" bIns="0" rtlCol="0" anchor="t"/>
          <a:lstStyle/>
          <a:p>
            <a:pPr marL="0" indent="0" algn="l">
              <a:lnSpc>
                <a:spcPct val="104000"/>
              </a:lnSpc>
              <a:buNone/>
            </a:pPr>
            <a:r>
              <a:rPr lang="en-US" sz="2100" b="1" dirty="0">
                <a:solidFill>
                  <a:srgbClr val="1B1F4A"/>
                </a:solidFill>
                <a:latin typeface="Merriweather Sans Bold" pitchFamily="34" charset="0"/>
                <a:ea typeface="Merriweather Sans Bold" pitchFamily="34" charset="-122"/>
                <a:cs typeface="Merriweather Sans Bold" pitchFamily="34" charset="-120"/>
              </a:rPr>
              <a:t>Prepare</a:t>
            </a:r>
            <a:endParaRPr lang="en-US" sz="2100" dirty="0"/>
          </a:p>
        </p:txBody>
      </p:sp>
      <p:sp>
        <p:nvSpPr>
          <p:cNvPr id="7" name="Text 5"/>
          <p:cNvSpPr/>
          <p:nvPr/>
        </p:nvSpPr>
        <p:spPr>
          <a:xfrm>
            <a:off x="584185" y="2406749"/>
            <a:ext cx="5359266" cy="276225"/>
          </a:xfrm>
          <a:prstGeom prst="rect">
            <a:avLst/>
          </a:prstGeom>
          <a:noFill/>
          <a:ln/>
        </p:spPr>
        <p:txBody>
          <a:bodyPr wrap="none" lIns="0" tIns="0" rIns="0" bIns="0" rtlCol="0" anchor="t"/>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Clean up column names and read the dates.</a:t>
            </a:r>
            <a:endParaRPr lang="en-US" sz="1500" dirty="0"/>
          </a:p>
        </p:txBody>
      </p:sp>
      <p:sp>
        <p:nvSpPr>
          <p:cNvPr id="8" name="Shape 6"/>
          <p:cNvSpPr/>
          <p:nvPr/>
        </p:nvSpPr>
        <p:spPr>
          <a:xfrm>
            <a:off x="6248244" y="1321792"/>
            <a:ext cx="340510" cy="340519"/>
          </a:xfrm>
          <a:prstGeom prst="ellipse">
            <a:avLst/>
          </a:prstGeom>
          <a:solidFill>
            <a:srgbClr val="C8202F"/>
          </a:solidFill>
          <a:ln/>
        </p:spPr>
        <p:txBody>
          <a:bodyPr/>
          <a:lstStyle/>
          <a:p>
            <a:endParaRPr/>
          </a:p>
        </p:txBody>
      </p:sp>
      <p:sp>
        <p:nvSpPr>
          <p:cNvPr id="9" name="Text 7"/>
          <p:cNvSpPr/>
          <p:nvPr/>
        </p:nvSpPr>
        <p:spPr>
          <a:xfrm>
            <a:off x="6302217" y="1403152"/>
            <a:ext cx="842148"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02</a:t>
            </a:r>
            <a:endParaRPr lang="en-US" sz="1400" dirty="0"/>
          </a:p>
        </p:txBody>
      </p:sp>
      <p:sp>
        <p:nvSpPr>
          <p:cNvPr id="10" name="Shape 8"/>
          <p:cNvSpPr/>
          <p:nvPr/>
        </p:nvSpPr>
        <p:spPr>
          <a:xfrm>
            <a:off x="6248244" y="1748631"/>
            <a:ext cx="5359266" cy="19050"/>
          </a:xfrm>
          <a:prstGeom prst="rect">
            <a:avLst/>
          </a:prstGeom>
          <a:solidFill>
            <a:srgbClr val="C8202F"/>
          </a:solidFill>
          <a:ln/>
        </p:spPr>
        <p:txBody>
          <a:bodyPr/>
          <a:lstStyle/>
          <a:p>
            <a:endParaRPr/>
          </a:p>
        </p:txBody>
      </p:sp>
      <p:sp>
        <p:nvSpPr>
          <p:cNvPr id="11" name="Text 9"/>
          <p:cNvSpPr/>
          <p:nvPr/>
        </p:nvSpPr>
        <p:spPr>
          <a:xfrm>
            <a:off x="6248244" y="1909068"/>
            <a:ext cx="5359266" cy="333375"/>
          </a:xfrm>
          <a:prstGeom prst="rect">
            <a:avLst/>
          </a:prstGeom>
          <a:noFill/>
          <a:ln/>
        </p:spPr>
        <p:txBody>
          <a:bodyPr wrap="none" lIns="0" tIns="0" rIns="0" bIns="0" rtlCol="0" anchor="t"/>
          <a:lstStyle/>
          <a:p>
            <a:pPr marL="0" indent="0" algn="l">
              <a:lnSpc>
                <a:spcPct val="104000"/>
              </a:lnSpc>
              <a:buNone/>
            </a:pPr>
            <a:r>
              <a:rPr lang="en-US" sz="2100" b="1" dirty="0">
                <a:solidFill>
                  <a:srgbClr val="1B1F4A"/>
                </a:solidFill>
                <a:latin typeface="Merriweather Sans Bold" pitchFamily="34" charset="0"/>
                <a:ea typeface="Merriweather Sans Bold" pitchFamily="34" charset="-122"/>
                <a:cs typeface="Merriweather Sans Bold" pitchFamily="34" charset="-120"/>
              </a:rPr>
              <a:t>Expand time</a:t>
            </a:r>
            <a:endParaRPr lang="en-US" sz="2100" dirty="0"/>
          </a:p>
        </p:txBody>
      </p:sp>
      <p:sp>
        <p:nvSpPr>
          <p:cNvPr id="12" name="Text 10"/>
          <p:cNvSpPr/>
          <p:nvPr/>
        </p:nvSpPr>
        <p:spPr>
          <a:xfrm>
            <a:off x="6248244" y="2417068"/>
            <a:ext cx="5359266" cy="276225"/>
          </a:xfrm>
          <a:prstGeom prst="rect">
            <a:avLst/>
          </a:prstGeom>
          <a:noFill/>
          <a:ln/>
        </p:spPr>
        <p:txBody>
          <a:bodyPr wrap="none" lIns="0" tIns="0" rIns="0" bIns="0" rtlCol="0" anchor="t"/>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Add the year and month as features.</a:t>
            </a:r>
            <a:endParaRPr lang="en-US" sz="1500" dirty="0"/>
          </a:p>
        </p:txBody>
      </p:sp>
      <p:sp>
        <p:nvSpPr>
          <p:cNvPr id="13" name="Shape 11"/>
          <p:cNvSpPr/>
          <p:nvPr/>
        </p:nvSpPr>
        <p:spPr>
          <a:xfrm>
            <a:off x="584185" y="2995613"/>
            <a:ext cx="333962" cy="333970"/>
          </a:xfrm>
          <a:prstGeom prst="ellipse">
            <a:avLst/>
          </a:prstGeom>
          <a:solidFill>
            <a:srgbClr val="C8202F"/>
          </a:solidFill>
          <a:ln/>
        </p:spPr>
        <p:txBody>
          <a:bodyPr/>
          <a:lstStyle/>
          <a:p>
            <a:endParaRPr/>
          </a:p>
        </p:txBody>
      </p:sp>
      <p:sp>
        <p:nvSpPr>
          <p:cNvPr id="14" name="Text 12"/>
          <p:cNvSpPr/>
          <p:nvPr/>
        </p:nvSpPr>
        <p:spPr>
          <a:xfrm>
            <a:off x="638159" y="3073698"/>
            <a:ext cx="835599"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03</a:t>
            </a:r>
            <a:endParaRPr lang="en-US" sz="1400" dirty="0"/>
          </a:p>
        </p:txBody>
      </p:sp>
      <p:sp>
        <p:nvSpPr>
          <p:cNvPr id="15" name="Shape 13"/>
          <p:cNvSpPr/>
          <p:nvPr/>
        </p:nvSpPr>
        <p:spPr>
          <a:xfrm>
            <a:off x="584185" y="3415903"/>
            <a:ext cx="5359266" cy="19050"/>
          </a:xfrm>
          <a:prstGeom prst="rect">
            <a:avLst/>
          </a:prstGeom>
          <a:solidFill>
            <a:srgbClr val="C8202F"/>
          </a:solidFill>
          <a:ln/>
        </p:spPr>
        <p:txBody>
          <a:bodyPr/>
          <a:lstStyle/>
          <a:p>
            <a:endParaRPr/>
          </a:p>
        </p:txBody>
      </p:sp>
      <p:sp>
        <p:nvSpPr>
          <p:cNvPr id="16" name="Text 14"/>
          <p:cNvSpPr/>
          <p:nvPr/>
        </p:nvSpPr>
        <p:spPr>
          <a:xfrm>
            <a:off x="584185" y="3576340"/>
            <a:ext cx="5359266" cy="333375"/>
          </a:xfrm>
          <a:prstGeom prst="rect">
            <a:avLst/>
          </a:prstGeom>
          <a:noFill/>
          <a:ln/>
        </p:spPr>
        <p:txBody>
          <a:bodyPr wrap="none" lIns="0" tIns="0" rIns="0" bIns="0" rtlCol="0" anchor="t"/>
          <a:lstStyle/>
          <a:p>
            <a:pPr marL="0" indent="0" algn="l">
              <a:lnSpc>
                <a:spcPct val="104000"/>
              </a:lnSpc>
              <a:buNone/>
            </a:pPr>
            <a:r>
              <a:rPr lang="en-US" sz="2100" b="1" dirty="0">
                <a:solidFill>
                  <a:srgbClr val="1B1F4A"/>
                </a:solidFill>
                <a:latin typeface="Merriweather Sans Bold" pitchFamily="34" charset="0"/>
                <a:ea typeface="Merriweather Sans Bold" pitchFamily="34" charset="-122"/>
                <a:cs typeface="Merriweather Sans Bold" pitchFamily="34" charset="-120"/>
              </a:rPr>
              <a:t>Remove leakage</a:t>
            </a:r>
            <a:endParaRPr lang="en-US" sz="2100" dirty="0"/>
          </a:p>
        </p:txBody>
      </p:sp>
      <p:sp>
        <p:nvSpPr>
          <p:cNvPr id="17" name="Text 15"/>
          <p:cNvSpPr/>
          <p:nvPr/>
        </p:nvSpPr>
        <p:spPr>
          <a:xfrm>
            <a:off x="584185" y="4084340"/>
            <a:ext cx="5359266" cy="276225"/>
          </a:xfrm>
          <a:prstGeom prst="rect">
            <a:avLst/>
          </a:prstGeom>
          <a:noFill/>
          <a:ln/>
        </p:spPr>
        <p:txBody>
          <a:bodyPr wrap="none" lIns="0" tIns="0" rIns="0" bIns="0" rtlCol="0" anchor="t"/>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Leave out ID fields and raw date text that should not be used as inputs.</a:t>
            </a:r>
            <a:endParaRPr lang="en-US" sz="1500" dirty="0"/>
          </a:p>
        </p:txBody>
      </p:sp>
      <p:sp>
        <p:nvSpPr>
          <p:cNvPr id="18" name="Shape 16"/>
          <p:cNvSpPr/>
          <p:nvPr/>
        </p:nvSpPr>
        <p:spPr>
          <a:xfrm>
            <a:off x="6248244" y="2995613"/>
            <a:ext cx="355293" cy="355302"/>
          </a:xfrm>
          <a:prstGeom prst="ellipse">
            <a:avLst/>
          </a:prstGeom>
          <a:solidFill>
            <a:srgbClr val="C8202F"/>
          </a:solidFill>
          <a:ln/>
        </p:spPr>
        <p:txBody>
          <a:bodyPr/>
          <a:lstStyle/>
          <a:p>
            <a:endParaRPr/>
          </a:p>
        </p:txBody>
      </p:sp>
      <p:sp>
        <p:nvSpPr>
          <p:cNvPr id="19" name="Text 17"/>
          <p:cNvSpPr/>
          <p:nvPr/>
        </p:nvSpPr>
        <p:spPr>
          <a:xfrm>
            <a:off x="6302217" y="3084314"/>
            <a:ext cx="856931"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04</a:t>
            </a:r>
            <a:endParaRPr lang="en-US" sz="1400" dirty="0"/>
          </a:p>
        </p:txBody>
      </p:sp>
      <p:sp>
        <p:nvSpPr>
          <p:cNvPr id="20" name="Shape 18"/>
          <p:cNvSpPr/>
          <p:nvPr/>
        </p:nvSpPr>
        <p:spPr>
          <a:xfrm>
            <a:off x="6248244" y="3437235"/>
            <a:ext cx="5359266" cy="19050"/>
          </a:xfrm>
          <a:prstGeom prst="rect">
            <a:avLst/>
          </a:prstGeom>
          <a:solidFill>
            <a:srgbClr val="C8202F"/>
          </a:solidFill>
          <a:ln/>
        </p:spPr>
        <p:txBody>
          <a:bodyPr/>
          <a:lstStyle/>
          <a:p>
            <a:endParaRPr/>
          </a:p>
        </p:txBody>
      </p:sp>
      <p:sp>
        <p:nvSpPr>
          <p:cNvPr id="21" name="Text 19"/>
          <p:cNvSpPr/>
          <p:nvPr/>
        </p:nvSpPr>
        <p:spPr>
          <a:xfrm>
            <a:off x="6248244" y="3597672"/>
            <a:ext cx="5359266" cy="333375"/>
          </a:xfrm>
          <a:prstGeom prst="rect">
            <a:avLst/>
          </a:prstGeom>
          <a:noFill/>
          <a:ln/>
        </p:spPr>
        <p:txBody>
          <a:bodyPr wrap="none" lIns="0" tIns="0" rIns="0" bIns="0" rtlCol="0" anchor="t"/>
          <a:lstStyle/>
          <a:p>
            <a:pPr marL="0" indent="0" algn="l">
              <a:lnSpc>
                <a:spcPct val="104000"/>
              </a:lnSpc>
              <a:buNone/>
            </a:pPr>
            <a:r>
              <a:rPr lang="en-US" sz="2100" b="1" dirty="0">
                <a:solidFill>
                  <a:srgbClr val="1B1F4A"/>
                </a:solidFill>
                <a:latin typeface="Merriweather Sans Bold" pitchFamily="34" charset="0"/>
                <a:ea typeface="Merriweather Sans Bold" pitchFamily="34" charset="-122"/>
                <a:cs typeface="Merriweather Sans Bold" pitchFamily="34" charset="-120"/>
              </a:rPr>
              <a:t>Impute numbers</a:t>
            </a:r>
            <a:endParaRPr lang="en-US" sz="2100" dirty="0"/>
          </a:p>
        </p:txBody>
      </p:sp>
      <p:sp>
        <p:nvSpPr>
          <p:cNvPr id="22" name="Text 20"/>
          <p:cNvSpPr/>
          <p:nvPr/>
        </p:nvSpPr>
        <p:spPr>
          <a:xfrm>
            <a:off x="6248244" y="4105672"/>
            <a:ext cx="5359266" cy="276225"/>
          </a:xfrm>
          <a:prstGeom prst="rect">
            <a:avLst/>
          </a:prstGeom>
          <a:noFill/>
          <a:ln/>
        </p:spPr>
        <p:txBody>
          <a:bodyPr wrap="none" lIns="0" tIns="0" rIns="0" bIns="0" rtlCol="0" anchor="t"/>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Fill missing numbers using the median.</a:t>
            </a:r>
            <a:endParaRPr lang="en-US" sz="1500" dirty="0"/>
          </a:p>
        </p:txBody>
      </p:sp>
      <p:sp>
        <p:nvSpPr>
          <p:cNvPr id="23" name="Shape 21"/>
          <p:cNvSpPr/>
          <p:nvPr/>
        </p:nvSpPr>
        <p:spPr>
          <a:xfrm>
            <a:off x="584185" y="4684216"/>
            <a:ext cx="342594" cy="342602"/>
          </a:xfrm>
          <a:prstGeom prst="ellipse">
            <a:avLst/>
          </a:prstGeom>
          <a:solidFill>
            <a:srgbClr val="C8202F"/>
          </a:solidFill>
          <a:ln/>
        </p:spPr>
        <p:txBody>
          <a:bodyPr/>
          <a:lstStyle/>
          <a:p>
            <a:endParaRPr/>
          </a:p>
        </p:txBody>
      </p:sp>
      <p:sp>
        <p:nvSpPr>
          <p:cNvPr id="24" name="Text 22"/>
          <p:cNvSpPr/>
          <p:nvPr/>
        </p:nvSpPr>
        <p:spPr>
          <a:xfrm>
            <a:off x="638159" y="4766568"/>
            <a:ext cx="844231"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05</a:t>
            </a:r>
            <a:endParaRPr lang="en-US" sz="1400" dirty="0"/>
          </a:p>
        </p:txBody>
      </p:sp>
      <p:sp>
        <p:nvSpPr>
          <p:cNvPr id="25" name="Shape 23"/>
          <p:cNvSpPr/>
          <p:nvPr/>
        </p:nvSpPr>
        <p:spPr>
          <a:xfrm>
            <a:off x="584185" y="5113139"/>
            <a:ext cx="5359266" cy="19050"/>
          </a:xfrm>
          <a:prstGeom prst="rect">
            <a:avLst/>
          </a:prstGeom>
          <a:solidFill>
            <a:srgbClr val="C8202F"/>
          </a:solidFill>
          <a:ln/>
        </p:spPr>
        <p:txBody>
          <a:bodyPr/>
          <a:lstStyle/>
          <a:p>
            <a:endParaRPr/>
          </a:p>
        </p:txBody>
      </p:sp>
      <p:sp>
        <p:nvSpPr>
          <p:cNvPr id="26" name="Text 24"/>
          <p:cNvSpPr/>
          <p:nvPr/>
        </p:nvSpPr>
        <p:spPr>
          <a:xfrm>
            <a:off x="584185" y="5273576"/>
            <a:ext cx="5359266" cy="333375"/>
          </a:xfrm>
          <a:prstGeom prst="rect">
            <a:avLst/>
          </a:prstGeom>
          <a:noFill/>
          <a:ln/>
        </p:spPr>
        <p:txBody>
          <a:bodyPr wrap="none" lIns="0" tIns="0" rIns="0" bIns="0" rtlCol="0" anchor="t"/>
          <a:lstStyle/>
          <a:p>
            <a:pPr marL="0" indent="0" algn="l">
              <a:lnSpc>
                <a:spcPct val="104000"/>
              </a:lnSpc>
              <a:buNone/>
            </a:pPr>
            <a:r>
              <a:rPr lang="en-US" sz="2100" b="1" dirty="0">
                <a:solidFill>
                  <a:srgbClr val="1B1F4A"/>
                </a:solidFill>
                <a:latin typeface="Merriweather Sans Bold" pitchFamily="34" charset="0"/>
                <a:ea typeface="Merriweather Sans Bold" pitchFamily="34" charset="-122"/>
                <a:cs typeface="Merriweather Sans Bold" pitchFamily="34" charset="-120"/>
              </a:rPr>
              <a:t>Encode categories</a:t>
            </a:r>
            <a:endParaRPr lang="en-US" sz="2100" dirty="0"/>
          </a:p>
        </p:txBody>
      </p:sp>
      <p:sp>
        <p:nvSpPr>
          <p:cNvPr id="27" name="Text 25"/>
          <p:cNvSpPr/>
          <p:nvPr/>
        </p:nvSpPr>
        <p:spPr>
          <a:xfrm>
            <a:off x="584185" y="5781576"/>
            <a:ext cx="5359266"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Fill missing categories with the most common value, then convert categories into numeric columns.</a:t>
            </a:r>
            <a:endParaRPr lang="en-US" sz="1500" dirty="0"/>
          </a:p>
        </p:txBody>
      </p:sp>
      <p:sp>
        <p:nvSpPr>
          <p:cNvPr id="28" name="Shape 26"/>
          <p:cNvSpPr/>
          <p:nvPr/>
        </p:nvSpPr>
        <p:spPr>
          <a:xfrm>
            <a:off x="6248244" y="4684216"/>
            <a:ext cx="355194" cy="355203"/>
          </a:xfrm>
          <a:prstGeom prst="ellipse">
            <a:avLst/>
          </a:prstGeom>
          <a:solidFill>
            <a:srgbClr val="C8202F"/>
          </a:solidFill>
          <a:ln/>
        </p:spPr>
        <p:txBody>
          <a:bodyPr/>
          <a:lstStyle/>
          <a:p>
            <a:endParaRPr/>
          </a:p>
        </p:txBody>
      </p:sp>
      <p:sp>
        <p:nvSpPr>
          <p:cNvPr id="29" name="Text 27"/>
          <p:cNvSpPr/>
          <p:nvPr/>
        </p:nvSpPr>
        <p:spPr>
          <a:xfrm>
            <a:off x="6302217" y="4772918"/>
            <a:ext cx="856832"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06</a:t>
            </a:r>
            <a:endParaRPr lang="en-US" sz="1400" dirty="0"/>
          </a:p>
        </p:txBody>
      </p:sp>
      <p:sp>
        <p:nvSpPr>
          <p:cNvPr id="30" name="Shape 28"/>
          <p:cNvSpPr/>
          <p:nvPr/>
        </p:nvSpPr>
        <p:spPr>
          <a:xfrm>
            <a:off x="6248244" y="5125740"/>
            <a:ext cx="5359266" cy="19050"/>
          </a:xfrm>
          <a:prstGeom prst="rect">
            <a:avLst/>
          </a:prstGeom>
          <a:solidFill>
            <a:srgbClr val="C8202F"/>
          </a:solidFill>
          <a:ln/>
        </p:spPr>
        <p:txBody>
          <a:bodyPr/>
          <a:lstStyle/>
          <a:p>
            <a:endParaRPr/>
          </a:p>
        </p:txBody>
      </p:sp>
      <p:sp>
        <p:nvSpPr>
          <p:cNvPr id="31" name="Text 29"/>
          <p:cNvSpPr/>
          <p:nvPr/>
        </p:nvSpPr>
        <p:spPr>
          <a:xfrm>
            <a:off x="6248244" y="5286177"/>
            <a:ext cx="5359266" cy="333375"/>
          </a:xfrm>
          <a:prstGeom prst="rect">
            <a:avLst/>
          </a:prstGeom>
          <a:noFill/>
          <a:ln/>
        </p:spPr>
        <p:txBody>
          <a:bodyPr wrap="none" lIns="0" tIns="0" rIns="0" bIns="0" rtlCol="0" anchor="t"/>
          <a:lstStyle/>
          <a:p>
            <a:pPr marL="0" indent="0" algn="l">
              <a:lnSpc>
                <a:spcPct val="104000"/>
              </a:lnSpc>
              <a:buNone/>
            </a:pPr>
            <a:r>
              <a:rPr lang="en-US" sz="2100" b="1" dirty="0">
                <a:solidFill>
                  <a:srgbClr val="1B1F4A"/>
                </a:solidFill>
                <a:latin typeface="Merriweather Sans Bold" pitchFamily="34" charset="0"/>
                <a:ea typeface="Merriweather Sans Bold" pitchFamily="34" charset="-122"/>
                <a:cs typeface="Merriweather Sans Bold" pitchFamily="34" charset="-120"/>
              </a:rPr>
              <a:t>Split fairly</a:t>
            </a:r>
            <a:endParaRPr lang="en-US" sz="2100" dirty="0"/>
          </a:p>
        </p:txBody>
      </p:sp>
      <p:sp>
        <p:nvSpPr>
          <p:cNvPr id="32" name="Text 30"/>
          <p:cNvSpPr/>
          <p:nvPr/>
        </p:nvSpPr>
        <p:spPr>
          <a:xfrm>
            <a:off x="6248244" y="5794177"/>
            <a:ext cx="5359266" cy="276225"/>
          </a:xfrm>
          <a:prstGeom prst="rect">
            <a:avLst/>
          </a:prstGeom>
          <a:noFill/>
          <a:ln/>
        </p:spPr>
        <p:txBody>
          <a:bodyPr wrap="none" lIns="0" tIns="0" rIns="0" bIns="0" rtlCol="0" anchor="t"/>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Use 80% of the data for training and 20% for testing (random_state 42).</a:t>
            </a:r>
            <a:endParaRPr lang="en-US"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84185" y="603187"/>
            <a:ext cx="5740256" cy="967184"/>
          </a:xfrm>
          <a:prstGeom prst="rect">
            <a:avLst/>
          </a:prstGeom>
          <a:noFill/>
          <a:ln/>
        </p:spPr>
        <p:txBody>
          <a:bodyPr wrap="square" lIns="0" tIns="0" rIns="0" bIns="0" rtlCol="0" anchor="t">
            <a:normAutofit/>
          </a:bodyPr>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Some pollutant readings</a:t>
            </a:r>
            <a:endParaRPr lang="en-US" sz="3400" dirty="0"/>
          </a:p>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move together</a:t>
            </a:r>
            <a:endParaRPr lang="en-US" sz="3400" dirty="0"/>
          </a:p>
        </p:txBody>
      </p:sp>
      <p:sp>
        <p:nvSpPr>
          <p:cNvPr id="3" name="Text 1"/>
          <p:cNvSpPr/>
          <p:nvPr/>
        </p:nvSpPr>
        <p:spPr>
          <a:xfrm>
            <a:off x="584185" y="1805384"/>
            <a:ext cx="5740256"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1B1F4A"/>
                </a:solidFill>
                <a:latin typeface="Merriweather Sans" pitchFamily="34" charset="0"/>
                <a:ea typeface="Merriweather Sans" pitchFamily="34" charset="-122"/>
                <a:cs typeface="Merriweather Sans" pitchFamily="34" charset="-120"/>
              </a:rPr>
              <a:t>Correlation helps us spot patterns, but it does not prove that one pollutant causes another to change.</a:t>
            </a:r>
            <a:endParaRPr lang="en-US" sz="1700" dirty="0"/>
          </a:p>
        </p:txBody>
      </p:sp>
      <p:sp>
        <p:nvSpPr>
          <p:cNvPr id="4" name="Shape 2"/>
          <p:cNvSpPr/>
          <p:nvPr/>
        </p:nvSpPr>
        <p:spPr>
          <a:xfrm>
            <a:off x="584185" y="4314825"/>
            <a:ext cx="1811788" cy="1958975"/>
          </a:xfrm>
          <a:prstGeom prst="roundRect">
            <a:avLst>
              <a:gd name="adj" fmla="val 11776"/>
            </a:avLst>
          </a:prstGeom>
          <a:solidFill>
            <a:srgbClr val="F4EFE6"/>
          </a:solidFill>
          <a:ln/>
        </p:spPr>
        <p:txBody>
          <a:bodyPr/>
          <a:lstStyle/>
          <a:p>
            <a:endParaRPr/>
          </a:p>
        </p:txBody>
      </p:sp>
      <p:sp>
        <p:nvSpPr>
          <p:cNvPr id="5" name="Shape 3"/>
          <p:cNvSpPr/>
          <p:nvPr/>
        </p:nvSpPr>
        <p:spPr>
          <a:xfrm>
            <a:off x="812780" y="4543425"/>
            <a:ext cx="330192" cy="330200"/>
          </a:xfrm>
          <a:prstGeom prst="ellipse">
            <a:avLst/>
          </a:prstGeom>
          <a:solidFill>
            <a:srgbClr val="C8202F"/>
          </a:solidFill>
          <a:ln/>
        </p:spPr>
        <p:txBody>
          <a:bodyPr/>
          <a:lstStyle/>
          <a:p>
            <a:endParaRPr/>
          </a:p>
        </p:txBody>
      </p:sp>
      <p:sp>
        <p:nvSpPr>
          <p:cNvPr id="6" name="Text 4"/>
          <p:cNvSpPr/>
          <p:nvPr/>
        </p:nvSpPr>
        <p:spPr>
          <a:xfrm>
            <a:off x="936403" y="4619625"/>
            <a:ext cx="692530"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1</a:t>
            </a:r>
            <a:endParaRPr lang="en-US" sz="1400" dirty="0"/>
          </a:p>
        </p:txBody>
      </p:sp>
      <p:sp>
        <p:nvSpPr>
          <p:cNvPr id="7" name="Text 5"/>
          <p:cNvSpPr/>
          <p:nvPr/>
        </p:nvSpPr>
        <p:spPr>
          <a:xfrm>
            <a:off x="812780" y="4987131"/>
            <a:ext cx="1354600"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0.75</a:t>
            </a:r>
            <a:endParaRPr lang="en-US" sz="2100" dirty="0"/>
          </a:p>
        </p:txBody>
      </p:sp>
      <p:sp>
        <p:nvSpPr>
          <p:cNvPr id="8" name="Text 6"/>
          <p:cNvSpPr/>
          <p:nvPr/>
        </p:nvSpPr>
        <p:spPr>
          <a:xfrm>
            <a:off x="812780" y="5495131"/>
            <a:ext cx="1354600"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RSPM–PM2.5 correlation</a:t>
            </a:r>
            <a:endParaRPr lang="en-US" sz="1500" dirty="0"/>
          </a:p>
        </p:txBody>
      </p:sp>
      <p:sp>
        <p:nvSpPr>
          <p:cNvPr id="9" name="Shape 7"/>
          <p:cNvSpPr/>
          <p:nvPr/>
        </p:nvSpPr>
        <p:spPr>
          <a:xfrm>
            <a:off x="2548370" y="4314825"/>
            <a:ext cx="1811788" cy="1958975"/>
          </a:xfrm>
          <a:prstGeom prst="roundRect">
            <a:avLst>
              <a:gd name="adj" fmla="val 11776"/>
            </a:avLst>
          </a:prstGeom>
          <a:solidFill>
            <a:srgbClr val="F4EFE6"/>
          </a:solidFill>
          <a:ln/>
        </p:spPr>
        <p:txBody>
          <a:bodyPr/>
          <a:lstStyle/>
          <a:p>
            <a:endParaRPr/>
          </a:p>
        </p:txBody>
      </p:sp>
      <p:sp>
        <p:nvSpPr>
          <p:cNvPr id="10" name="Shape 8"/>
          <p:cNvSpPr/>
          <p:nvPr/>
        </p:nvSpPr>
        <p:spPr>
          <a:xfrm>
            <a:off x="2776964" y="4543425"/>
            <a:ext cx="330192" cy="330200"/>
          </a:xfrm>
          <a:prstGeom prst="ellipse">
            <a:avLst/>
          </a:prstGeom>
          <a:solidFill>
            <a:srgbClr val="C8202F"/>
          </a:solidFill>
          <a:ln/>
        </p:spPr>
        <p:txBody>
          <a:bodyPr/>
          <a:lstStyle/>
          <a:p>
            <a:endParaRPr/>
          </a:p>
        </p:txBody>
      </p:sp>
      <p:sp>
        <p:nvSpPr>
          <p:cNvPr id="11" name="Text 9"/>
          <p:cNvSpPr/>
          <p:nvPr/>
        </p:nvSpPr>
        <p:spPr>
          <a:xfrm>
            <a:off x="2887590" y="4619625"/>
            <a:ext cx="718524"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2</a:t>
            </a:r>
            <a:endParaRPr lang="en-US" sz="1400" dirty="0"/>
          </a:p>
        </p:txBody>
      </p:sp>
      <p:sp>
        <p:nvSpPr>
          <p:cNvPr id="12" name="Text 10"/>
          <p:cNvSpPr/>
          <p:nvPr/>
        </p:nvSpPr>
        <p:spPr>
          <a:xfrm>
            <a:off x="2776964" y="4987131"/>
            <a:ext cx="1354600"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0.71</a:t>
            </a:r>
            <a:endParaRPr lang="en-US" sz="2100" dirty="0"/>
          </a:p>
        </p:txBody>
      </p:sp>
      <p:sp>
        <p:nvSpPr>
          <p:cNvPr id="13" name="Text 11"/>
          <p:cNvSpPr/>
          <p:nvPr/>
        </p:nvSpPr>
        <p:spPr>
          <a:xfrm>
            <a:off x="2776964" y="5495131"/>
            <a:ext cx="1354600"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RSPM–SPM correlation</a:t>
            </a:r>
            <a:endParaRPr lang="en-US" sz="1500" dirty="0"/>
          </a:p>
        </p:txBody>
      </p:sp>
      <p:sp>
        <p:nvSpPr>
          <p:cNvPr id="14" name="Shape 12"/>
          <p:cNvSpPr/>
          <p:nvPr/>
        </p:nvSpPr>
        <p:spPr>
          <a:xfrm>
            <a:off x="4512554" y="4314825"/>
            <a:ext cx="1811887" cy="1958975"/>
          </a:xfrm>
          <a:prstGeom prst="roundRect">
            <a:avLst>
              <a:gd name="adj" fmla="val 11775"/>
            </a:avLst>
          </a:prstGeom>
          <a:solidFill>
            <a:srgbClr val="F4EFE6"/>
          </a:solidFill>
          <a:ln/>
        </p:spPr>
        <p:txBody>
          <a:bodyPr/>
          <a:lstStyle/>
          <a:p>
            <a:endParaRPr/>
          </a:p>
        </p:txBody>
      </p:sp>
      <p:sp>
        <p:nvSpPr>
          <p:cNvPr id="15" name="Shape 13"/>
          <p:cNvSpPr/>
          <p:nvPr/>
        </p:nvSpPr>
        <p:spPr>
          <a:xfrm>
            <a:off x="4741149" y="4543425"/>
            <a:ext cx="330192" cy="330200"/>
          </a:xfrm>
          <a:prstGeom prst="ellipse">
            <a:avLst/>
          </a:prstGeom>
          <a:solidFill>
            <a:srgbClr val="C8202F"/>
          </a:solidFill>
          <a:ln/>
        </p:spPr>
        <p:txBody>
          <a:bodyPr/>
          <a:lstStyle/>
          <a:p>
            <a:endParaRPr/>
          </a:p>
        </p:txBody>
      </p:sp>
      <p:sp>
        <p:nvSpPr>
          <p:cNvPr id="16" name="Text 14"/>
          <p:cNvSpPr/>
          <p:nvPr/>
        </p:nvSpPr>
        <p:spPr>
          <a:xfrm>
            <a:off x="4855049" y="4619625"/>
            <a:ext cx="711976" cy="177800"/>
          </a:xfrm>
          <a:prstGeom prst="rect">
            <a:avLst/>
          </a:prstGeom>
          <a:noFill/>
          <a:ln/>
        </p:spPr>
        <p:txBody>
          <a:bodyPr wrap="none" lIns="0" tIns="0" rIns="0" bIns="0" rtlCol="0" anchor="t"/>
          <a:lstStyle/>
          <a:p>
            <a:pPr marL="0" indent="0" algn="l">
              <a:lnSpc>
                <a:spcPct val="83000"/>
              </a:lnSpc>
              <a:buNone/>
            </a:pPr>
            <a:r>
              <a:rPr lang="en-US" sz="1400" b="1" dirty="0">
                <a:solidFill>
                  <a:srgbClr val="FFFFFF"/>
                </a:solidFill>
                <a:latin typeface="Merriweather Sans Bold" pitchFamily="34" charset="0"/>
                <a:ea typeface="Merriweather Sans Bold" pitchFamily="34" charset="-122"/>
                <a:cs typeface="Merriweather Sans Bold" pitchFamily="34" charset="-120"/>
              </a:rPr>
              <a:t>3</a:t>
            </a:r>
            <a:endParaRPr lang="en-US" sz="1400" dirty="0"/>
          </a:p>
        </p:txBody>
      </p:sp>
      <p:sp>
        <p:nvSpPr>
          <p:cNvPr id="17" name="Text 15"/>
          <p:cNvSpPr/>
          <p:nvPr/>
        </p:nvSpPr>
        <p:spPr>
          <a:xfrm>
            <a:off x="4741149" y="4987131"/>
            <a:ext cx="1354699"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0.35</a:t>
            </a:r>
            <a:endParaRPr lang="en-US" sz="2100" dirty="0"/>
          </a:p>
        </p:txBody>
      </p:sp>
      <p:sp>
        <p:nvSpPr>
          <p:cNvPr id="18" name="Text 16"/>
          <p:cNvSpPr/>
          <p:nvPr/>
        </p:nvSpPr>
        <p:spPr>
          <a:xfrm>
            <a:off x="4741149" y="5495131"/>
            <a:ext cx="1354699"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RSPM–NO2 correlation</a:t>
            </a:r>
            <a:endParaRPr lang="en-US" sz="1500" dirty="0"/>
          </a:p>
        </p:txBody>
      </p:sp>
      <p:pic>
        <p:nvPicPr>
          <p:cNvPr id="19" name="Image 0" descr="preencoded.png"/>
          <p:cNvPicPr>
            <a:picLocks noChangeAspect="1"/>
          </p:cNvPicPr>
          <p:nvPr/>
        </p:nvPicPr>
        <p:blipFill>
          <a:blip r:embed="rId3"/>
          <a:stretch>
            <a:fillRect/>
          </a:stretch>
        </p:blipFill>
        <p:spPr>
          <a:xfrm>
            <a:off x="6908627" y="0"/>
            <a:ext cx="5283068" cy="6858000"/>
          </a:xfrm>
          <a:prstGeom prst="rect">
            <a:avLst/>
          </a:prstGeom>
        </p:spPr>
      </p:pic>
      <p:pic>
        <p:nvPicPr>
          <p:cNvPr id="20" name="Image 1" descr="preencoded.png"/>
          <p:cNvPicPr>
            <a:picLocks noChangeAspect="1"/>
          </p:cNvPicPr>
          <p:nvPr/>
        </p:nvPicPr>
        <p:blipFill>
          <a:blip r:embed="rId4"/>
          <a:stretch>
            <a:fillRect/>
          </a:stretch>
        </p:blipFill>
        <p:spPr>
          <a:xfrm>
            <a:off x="7061023" y="152400"/>
            <a:ext cx="4978275" cy="6553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84185" y="603187"/>
            <a:ext cx="11023324" cy="967184"/>
          </a:xfrm>
          <a:prstGeom prst="rect">
            <a:avLst/>
          </a:prstGeom>
          <a:noFill/>
          <a:ln/>
        </p:spPr>
        <p:txBody>
          <a:bodyPr wrap="square" lIns="0" tIns="0" rIns="0" bIns="0" rtlCol="0" anchor="t">
            <a:normAutofit/>
          </a:bodyPr>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Air-quality model results:</a:t>
            </a:r>
            <a:endParaRPr lang="en-US" sz="3400" dirty="0"/>
          </a:p>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our first baseline</a:t>
            </a:r>
            <a:endParaRPr lang="en-US" sz="3400" dirty="0"/>
          </a:p>
        </p:txBody>
      </p:sp>
      <p:sp>
        <p:nvSpPr>
          <p:cNvPr id="3" name="Text 1"/>
          <p:cNvSpPr/>
          <p:nvPr/>
        </p:nvSpPr>
        <p:spPr>
          <a:xfrm>
            <a:off x="584185" y="1805384"/>
            <a:ext cx="11607510" cy="313035"/>
          </a:xfrm>
          <a:prstGeom prst="rect">
            <a:avLst/>
          </a:prstGeom>
          <a:noFill/>
          <a:ln/>
        </p:spPr>
        <p:txBody>
          <a:bodyPr wrap="none" lIns="0" tIns="0" rIns="0" bIns="0" rtlCol="0" anchor="t"/>
          <a:lstStyle/>
          <a:p>
            <a:pPr marL="0" indent="0" algn="l">
              <a:lnSpc>
                <a:spcPct val="121000"/>
              </a:lnSpc>
              <a:buNone/>
            </a:pPr>
            <a:r>
              <a:rPr lang="en-US" sz="1700" dirty="0">
                <a:solidFill>
                  <a:srgbClr val="1B1F4A"/>
                </a:solidFill>
                <a:latin typeface="Merriweather Sans" pitchFamily="34" charset="0"/>
                <a:ea typeface="Merriweather Sans" pitchFamily="34" charset="-122"/>
                <a:cs typeface="Merriweather Sans" pitchFamily="34" charset="-120"/>
              </a:rPr>
              <a:t>Linear Regression gives us a starting point for predicting RSPM and measuring how well it works.</a:t>
            </a:r>
            <a:endParaRPr lang="en-US" sz="1700" dirty="0"/>
          </a:p>
        </p:txBody>
      </p:sp>
      <p:pic>
        <p:nvPicPr>
          <p:cNvPr id="4" name="Image 0" descr="preencoded.png"/>
          <p:cNvPicPr>
            <a:picLocks noChangeAspect="1"/>
          </p:cNvPicPr>
          <p:nvPr/>
        </p:nvPicPr>
        <p:blipFill>
          <a:blip r:embed="rId3"/>
          <a:stretch>
            <a:fillRect/>
          </a:stretch>
        </p:blipFill>
        <p:spPr>
          <a:xfrm>
            <a:off x="584185" y="2575620"/>
            <a:ext cx="5968851" cy="3430786"/>
          </a:xfrm>
          <a:prstGeom prst="rect">
            <a:avLst/>
          </a:prstGeom>
        </p:spPr>
      </p:pic>
      <p:sp>
        <p:nvSpPr>
          <p:cNvPr id="5" name="Shape 2"/>
          <p:cNvSpPr/>
          <p:nvPr/>
        </p:nvSpPr>
        <p:spPr>
          <a:xfrm>
            <a:off x="7557105" y="2347020"/>
            <a:ext cx="4050405" cy="3926780"/>
          </a:xfrm>
          <a:prstGeom prst="roundRect">
            <a:avLst>
              <a:gd name="adj" fmla="val 5433"/>
            </a:avLst>
          </a:prstGeom>
          <a:solidFill>
            <a:srgbClr val="F4EFE6"/>
          </a:solidFill>
          <a:ln/>
        </p:spPr>
        <p:txBody>
          <a:bodyPr/>
          <a:lstStyle/>
          <a:p>
            <a:endParaRPr/>
          </a:p>
        </p:txBody>
      </p:sp>
      <p:sp>
        <p:nvSpPr>
          <p:cNvPr id="6" name="Text 3"/>
          <p:cNvSpPr/>
          <p:nvPr/>
        </p:nvSpPr>
        <p:spPr>
          <a:xfrm>
            <a:off x="7887296" y="2664202"/>
            <a:ext cx="3720213" cy="198041"/>
          </a:xfrm>
          <a:prstGeom prst="rect">
            <a:avLst/>
          </a:prstGeom>
          <a:noFill/>
          <a:ln/>
        </p:spPr>
        <p:txBody>
          <a:bodyPr wrap="none" lIns="0" tIns="0" rIns="0" bIns="0" rtlCol="0" anchor="t"/>
          <a:lstStyle/>
          <a:p>
            <a:pPr marL="0" indent="0" algn="l">
              <a:lnSpc>
                <a:spcPct val="108000"/>
              </a:lnSpc>
              <a:buNone/>
            </a:pPr>
            <a:r>
              <a:rPr lang="en-US" sz="1200" kern="100" spc="72" dirty="0">
                <a:solidFill>
                  <a:srgbClr val="000000"/>
                </a:solidFill>
                <a:latin typeface="Roboto Mono Medium" pitchFamily="34" charset="0"/>
                <a:ea typeface="Roboto Mono Medium" pitchFamily="34" charset="-122"/>
                <a:cs typeface="Roboto Mono Medium" pitchFamily="34" charset="-120"/>
              </a:rPr>
              <a:t>HELD-OUT TEST RESULTS</a:t>
            </a:r>
            <a:endParaRPr lang="en-US" sz="1200" dirty="0"/>
          </a:p>
        </p:txBody>
      </p:sp>
      <p:sp>
        <p:nvSpPr>
          <p:cNvPr id="7" name="Text 4"/>
          <p:cNvSpPr/>
          <p:nvPr/>
        </p:nvSpPr>
        <p:spPr>
          <a:xfrm>
            <a:off x="7887296" y="2963366"/>
            <a:ext cx="3390021" cy="666750"/>
          </a:xfrm>
          <a:prstGeom prst="rect">
            <a:avLst/>
          </a:prstGeom>
          <a:noFill/>
          <a:ln/>
        </p:spPr>
        <p:txBody>
          <a:bodyPr wrap="square" lIns="0" tIns="0" rIns="0" bIns="0" rtlCol="0" anchor="t">
            <a:normAutofit/>
          </a:bodyPr>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It finds patterns, but errors remain</a:t>
            </a:r>
            <a:endParaRPr lang="en-US" sz="2100" dirty="0"/>
          </a:p>
        </p:txBody>
      </p:sp>
      <p:sp>
        <p:nvSpPr>
          <p:cNvPr id="8" name="Text 5"/>
          <p:cNvSpPr/>
          <p:nvPr/>
        </p:nvSpPr>
        <p:spPr>
          <a:xfrm>
            <a:off x="7887296" y="3804741"/>
            <a:ext cx="3390021"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The model picks up some useful patterns, although its predictions can still be quite far off.</a:t>
            </a:r>
            <a:endParaRPr lang="en-US" sz="1500" dirty="0"/>
          </a:p>
        </p:txBody>
      </p:sp>
      <p:sp>
        <p:nvSpPr>
          <p:cNvPr id="9" name="Text 6"/>
          <p:cNvSpPr/>
          <p:nvPr/>
        </p:nvSpPr>
        <p:spPr>
          <a:xfrm>
            <a:off x="7887296" y="4792643"/>
            <a:ext cx="3720213" cy="198041"/>
          </a:xfrm>
          <a:prstGeom prst="rect">
            <a:avLst/>
          </a:prstGeom>
          <a:noFill/>
          <a:ln/>
        </p:spPr>
        <p:txBody>
          <a:bodyPr wrap="none" lIns="0" tIns="0" rIns="0" bIns="0" rtlCol="0" anchor="t"/>
          <a:lstStyle/>
          <a:p>
            <a:pPr marL="0" indent="0" algn="l">
              <a:lnSpc>
                <a:spcPct val="108000"/>
              </a:lnSpc>
              <a:buNone/>
            </a:pPr>
            <a:r>
              <a:rPr lang="en-US" sz="1200" kern="100" spc="72" dirty="0">
                <a:solidFill>
                  <a:srgbClr val="000000"/>
                </a:solidFill>
                <a:latin typeface="Roboto Mono Medium" pitchFamily="34" charset="0"/>
                <a:ea typeface="Roboto Mono Medium" pitchFamily="34" charset="-122"/>
                <a:cs typeface="Roboto Mono Medium" pitchFamily="34" charset="-120"/>
              </a:rPr>
              <a:t>BASELINE · NOT A DEPLOYMENT CLAIM</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84185" y="603187"/>
            <a:ext cx="5740256" cy="967184"/>
          </a:xfrm>
          <a:prstGeom prst="rect">
            <a:avLst/>
          </a:prstGeom>
          <a:noFill/>
          <a:ln/>
        </p:spPr>
        <p:txBody>
          <a:bodyPr wrap="square" lIns="0" tIns="0" rIns="0" bIns="0" rtlCol="0" anchor="t">
            <a:normAutofit/>
          </a:bodyPr>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What the air model can tell us</a:t>
            </a:r>
            <a:endParaRPr lang="en-US" sz="3400" dirty="0"/>
          </a:p>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(and what it cannot)</a:t>
            </a:r>
            <a:endParaRPr lang="en-US" sz="3400" dirty="0"/>
          </a:p>
        </p:txBody>
      </p:sp>
      <p:pic>
        <p:nvPicPr>
          <p:cNvPr id="3" name="Image 0" descr="preencoded.png"/>
          <p:cNvPicPr>
            <a:picLocks noChangeAspect="1"/>
          </p:cNvPicPr>
          <p:nvPr/>
        </p:nvPicPr>
        <p:blipFill>
          <a:blip r:embed="rId3"/>
          <a:stretch>
            <a:fillRect/>
          </a:stretch>
        </p:blipFill>
        <p:spPr>
          <a:xfrm>
            <a:off x="622284" y="1805361"/>
            <a:ext cx="431789" cy="431800"/>
          </a:xfrm>
          <a:prstGeom prst="rect">
            <a:avLst/>
          </a:prstGeom>
        </p:spPr>
      </p:pic>
      <p:sp>
        <p:nvSpPr>
          <p:cNvPr id="4" name="Text 1"/>
          <p:cNvSpPr/>
          <p:nvPr/>
        </p:nvSpPr>
        <p:spPr>
          <a:xfrm>
            <a:off x="1244569" y="1814909"/>
            <a:ext cx="5079873" cy="285750"/>
          </a:xfrm>
          <a:prstGeom prst="rect">
            <a:avLst/>
          </a:prstGeom>
          <a:noFill/>
          <a:ln/>
        </p:spPr>
        <p:txBody>
          <a:bodyPr wrap="none" lIns="0" tIns="0" rIns="0" bIns="0" rtlCol="0" anchor="t"/>
          <a:lstStyle/>
          <a:p>
            <a:pPr marL="0" indent="0" algn="l">
              <a:lnSpc>
                <a:spcPct val="104000"/>
              </a:lnSpc>
              <a:buNone/>
            </a:pPr>
            <a:r>
              <a:rPr lang="en-US" sz="1800" b="1" dirty="0">
                <a:solidFill>
                  <a:srgbClr val="1B1F4A"/>
                </a:solidFill>
                <a:latin typeface="Merriweather Sans Bold" pitchFamily="34" charset="0"/>
                <a:ea typeface="Merriweather Sans Bold" pitchFamily="34" charset="-122"/>
                <a:cs typeface="Merriweather Sans Bold" pitchFamily="34" charset="-120"/>
              </a:rPr>
              <a:t>A useful starting point</a:t>
            </a:r>
            <a:endParaRPr lang="en-US" sz="1800" dirty="0"/>
          </a:p>
        </p:txBody>
      </p:sp>
      <p:sp>
        <p:nvSpPr>
          <p:cNvPr id="5" name="Text 2"/>
          <p:cNvSpPr/>
          <p:nvPr/>
        </p:nvSpPr>
        <p:spPr>
          <a:xfrm>
            <a:off x="1244569" y="2277666"/>
            <a:ext cx="5079873" cy="276225"/>
          </a:xfrm>
          <a:prstGeom prst="rect">
            <a:avLst/>
          </a:prstGeom>
          <a:noFill/>
          <a:ln/>
        </p:spPr>
        <p:txBody>
          <a:bodyPr wrap="none" lIns="0" tIns="0" rIns="0" bIns="0" rtlCol="0" anchor="t"/>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for air-quality monitoring.</a:t>
            </a:r>
            <a:endParaRPr lang="en-US" sz="1500" dirty="0"/>
          </a:p>
        </p:txBody>
      </p:sp>
      <p:pic>
        <p:nvPicPr>
          <p:cNvPr id="6" name="Image 1" descr="preencoded.png"/>
          <p:cNvPicPr>
            <a:picLocks noChangeAspect="1"/>
          </p:cNvPicPr>
          <p:nvPr/>
        </p:nvPicPr>
        <p:blipFill>
          <a:blip r:embed="rId4"/>
          <a:stretch>
            <a:fillRect/>
          </a:stretch>
        </p:blipFill>
        <p:spPr>
          <a:xfrm>
            <a:off x="622284" y="2703886"/>
            <a:ext cx="431789" cy="431800"/>
          </a:xfrm>
          <a:prstGeom prst="rect">
            <a:avLst/>
          </a:prstGeom>
        </p:spPr>
      </p:pic>
      <p:sp>
        <p:nvSpPr>
          <p:cNvPr id="7" name="Text 3"/>
          <p:cNvSpPr/>
          <p:nvPr/>
        </p:nvSpPr>
        <p:spPr>
          <a:xfrm>
            <a:off x="1244569" y="2713434"/>
            <a:ext cx="5079873" cy="285750"/>
          </a:xfrm>
          <a:prstGeom prst="rect">
            <a:avLst/>
          </a:prstGeom>
          <a:noFill/>
          <a:ln/>
        </p:spPr>
        <p:txBody>
          <a:bodyPr wrap="none" lIns="0" tIns="0" rIns="0" bIns="0" rtlCol="0" anchor="t"/>
          <a:lstStyle/>
          <a:p>
            <a:pPr marL="0" indent="0" algn="l">
              <a:lnSpc>
                <a:spcPct val="104000"/>
              </a:lnSpc>
              <a:buNone/>
            </a:pPr>
            <a:r>
              <a:rPr lang="en-US" sz="1800" b="1" dirty="0">
                <a:solidFill>
                  <a:srgbClr val="1B1F4A"/>
                </a:solidFill>
                <a:latin typeface="Merriweather Sans Bold" pitchFamily="34" charset="0"/>
                <a:ea typeface="Merriweather Sans Bold" pitchFamily="34" charset="-122"/>
                <a:cs typeface="Merriweather Sans Bold" pitchFamily="34" charset="-120"/>
              </a:rPr>
              <a:t>Inspect errors</a:t>
            </a:r>
            <a:endParaRPr lang="en-US" sz="1800" dirty="0"/>
          </a:p>
        </p:txBody>
      </p:sp>
      <p:sp>
        <p:nvSpPr>
          <p:cNvPr id="8" name="Text 4"/>
          <p:cNvSpPr/>
          <p:nvPr/>
        </p:nvSpPr>
        <p:spPr>
          <a:xfrm>
            <a:off x="1244569" y="3176191"/>
            <a:ext cx="5079873"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Comparing predicted and actual values helps show when the model predicts too high or too low.</a:t>
            </a:r>
            <a:endParaRPr lang="en-US" sz="1500" dirty="0"/>
          </a:p>
        </p:txBody>
      </p:sp>
      <p:pic>
        <p:nvPicPr>
          <p:cNvPr id="9" name="Image 2" descr="preencoded.png"/>
          <p:cNvPicPr>
            <a:picLocks noChangeAspect="1"/>
          </p:cNvPicPr>
          <p:nvPr/>
        </p:nvPicPr>
        <p:blipFill>
          <a:blip r:embed="rId5"/>
          <a:stretch>
            <a:fillRect/>
          </a:stretch>
        </p:blipFill>
        <p:spPr>
          <a:xfrm>
            <a:off x="622284" y="3878636"/>
            <a:ext cx="431789" cy="431800"/>
          </a:xfrm>
          <a:prstGeom prst="rect">
            <a:avLst/>
          </a:prstGeom>
        </p:spPr>
      </p:pic>
      <p:sp>
        <p:nvSpPr>
          <p:cNvPr id="10" name="Text 5"/>
          <p:cNvSpPr/>
          <p:nvPr/>
        </p:nvSpPr>
        <p:spPr>
          <a:xfrm>
            <a:off x="1244569" y="3888184"/>
            <a:ext cx="5079873" cy="285750"/>
          </a:xfrm>
          <a:prstGeom prst="rect">
            <a:avLst/>
          </a:prstGeom>
          <a:noFill/>
          <a:ln/>
        </p:spPr>
        <p:txBody>
          <a:bodyPr wrap="none" lIns="0" tIns="0" rIns="0" bIns="0" rtlCol="0" anchor="t"/>
          <a:lstStyle/>
          <a:p>
            <a:pPr marL="0" indent="0" algn="l">
              <a:lnSpc>
                <a:spcPct val="104000"/>
              </a:lnSpc>
              <a:buNone/>
            </a:pPr>
            <a:r>
              <a:rPr lang="en-US" sz="1800" b="1" dirty="0">
                <a:solidFill>
                  <a:srgbClr val="1B1F4A"/>
                </a:solidFill>
                <a:latin typeface="Merriweather Sans Bold" pitchFamily="34" charset="0"/>
                <a:ea typeface="Merriweather Sans Bold" pitchFamily="34" charset="-122"/>
                <a:cs typeface="Merriweather Sans Bold" pitchFamily="34" charset="-120"/>
              </a:rPr>
              <a:t>Signal is limited</a:t>
            </a:r>
            <a:endParaRPr lang="en-US" sz="1800" dirty="0"/>
          </a:p>
        </p:txBody>
      </p:sp>
      <p:sp>
        <p:nvSpPr>
          <p:cNvPr id="11" name="Text 6"/>
          <p:cNvSpPr/>
          <p:nvPr/>
        </p:nvSpPr>
        <p:spPr>
          <a:xfrm>
            <a:off x="1244569" y="4350941"/>
            <a:ext cx="5079873"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With so much PM2.5 and SPM data missing, the model has less information to learn from.</a:t>
            </a:r>
            <a:endParaRPr lang="en-US" sz="1500" dirty="0"/>
          </a:p>
        </p:txBody>
      </p:sp>
      <p:pic>
        <p:nvPicPr>
          <p:cNvPr id="12" name="Image 3" descr="preencoded.png"/>
          <p:cNvPicPr>
            <a:picLocks noChangeAspect="1"/>
          </p:cNvPicPr>
          <p:nvPr/>
        </p:nvPicPr>
        <p:blipFill>
          <a:blip r:embed="rId6"/>
          <a:stretch>
            <a:fillRect/>
          </a:stretch>
        </p:blipFill>
        <p:spPr>
          <a:xfrm>
            <a:off x="622284" y="5053386"/>
            <a:ext cx="431789" cy="431800"/>
          </a:xfrm>
          <a:prstGeom prst="rect">
            <a:avLst/>
          </a:prstGeom>
        </p:spPr>
      </p:pic>
      <p:sp>
        <p:nvSpPr>
          <p:cNvPr id="13" name="Text 7"/>
          <p:cNvSpPr/>
          <p:nvPr/>
        </p:nvSpPr>
        <p:spPr>
          <a:xfrm>
            <a:off x="1244569" y="5062934"/>
            <a:ext cx="5079873" cy="285750"/>
          </a:xfrm>
          <a:prstGeom prst="rect">
            <a:avLst/>
          </a:prstGeom>
          <a:noFill/>
          <a:ln/>
        </p:spPr>
        <p:txBody>
          <a:bodyPr wrap="none" lIns="0" tIns="0" rIns="0" bIns="0" rtlCol="0" anchor="t"/>
          <a:lstStyle/>
          <a:p>
            <a:pPr marL="0" indent="0" algn="l">
              <a:lnSpc>
                <a:spcPct val="104000"/>
              </a:lnSpc>
              <a:buNone/>
            </a:pPr>
            <a:r>
              <a:rPr lang="en-US" sz="1800" b="1" dirty="0">
                <a:solidFill>
                  <a:srgbClr val="1B1F4A"/>
                </a:solidFill>
                <a:latin typeface="Merriweather Sans Bold" pitchFamily="34" charset="0"/>
                <a:ea typeface="Merriweather Sans Bold" pitchFamily="34" charset="-122"/>
                <a:cs typeface="Merriweather Sans Bold" pitchFamily="34" charset="-120"/>
              </a:rPr>
              <a:t>Next engineering step</a:t>
            </a:r>
            <a:endParaRPr lang="en-US" sz="1800" dirty="0"/>
          </a:p>
        </p:txBody>
      </p:sp>
      <p:sp>
        <p:nvSpPr>
          <p:cNvPr id="14" name="Text 8"/>
          <p:cNvSpPr/>
          <p:nvPr/>
        </p:nvSpPr>
        <p:spPr>
          <a:xfrm>
            <a:off x="1244569" y="5525691"/>
            <a:ext cx="5079873"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B1F4A"/>
                </a:solidFill>
                <a:latin typeface="Merriweather Sans" pitchFamily="34" charset="0"/>
                <a:ea typeface="Merriweather Sans" pitchFamily="34" charset="-122"/>
                <a:cs typeface="Merriweather Sans" pitchFamily="34" charset="-120"/>
              </a:rPr>
              <a:t>Next, try other regression models and test them on different places and time periods.</a:t>
            </a:r>
            <a:endParaRPr lang="en-US" sz="1500" dirty="0"/>
          </a:p>
        </p:txBody>
      </p:sp>
      <p:pic>
        <p:nvPicPr>
          <p:cNvPr id="16" name="Image 5" descr="preencoded.png"/>
          <p:cNvPicPr>
            <a:picLocks noChangeAspect="1"/>
          </p:cNvPicPr>
          <p:nvPr/>
        </p:nvPicPr>
        <p:blipFill>
          <a:blip r:embed="rId7"/>
          <a:stretch>
            <a:fillRect/>
          </a:stretch>
        </p:blipFill>
        <p:spPr>
          <a:xfrm>
            <a:off x="6762580" y="0"/>
            <a:ext cx="4978275" cy="6553200"/>
          </a:xfrm>
          <a:prstGeom prst="rect">
            <a:avLst/>
          </a:prstGeom>
        </p:spPr>
      </p:pic>
      <p:pic>
        <p:nvPicPr>
          <p:cNvPr id="17" name="image5.png" descr="Scatter plot of actual versus predicted RSPM">
            <a:extLst>
              <a:ext uri="{FF2B5EF4-FFF2-40B4-BE49-F238E27FC236}">
                <a16:creationId xmlns:a16="http://schemas.microsoft.com/office/drawing/2014/main" id="{974041B1-25D8-79C2-54AC-258A7B8077ED}"/>
              </a:ext>
            </a:extLst>
          </p:cNvPr>
          <p:cNvPicPr/>
          <p:nvPr/>
        </p:nvPicPr>
        <p:blipFill>
          <a:blip r:embed="rId8"/>
          <a:srcRect/>
          <a:stretch>
            <a:fillRect/>
          </a:stretch>
        </p:blipFill>
        <p:spPr>
          <a:xfrm>
            <a:off x="6923314" y="466725"/>
            <a:ext cx="5268686" cy="5308924"/>
          </a:xfrm>
          <a:prstGeom prst="rect">
            <a:avLst/>
          </a:prstGeom>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84185" y="603187"/>
            <a:ext cx="11023324" cy="967184"/>
          </a:xfrm>
          <a:prstGeom prst="rect">
            <a:avLst/>
          </a:prstGeom>
          <a:noFill/>
          <a:ln/>
        </p:spPr>
        <p:txBody>
          <a:bodyPr wrap="square" lIns="0" tIns="0" rIns="0" bIns="0" rtlCol="0" anchor="t">
            <a:normAutofit/>
          </a:bodyPr>
          <a:lstStyle/>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Project 2 — Classifying waste images</a:t>
            </a:r>
            <a:endParaRPr lang="en-US" sz="3400" dirty="0"/>
          </a:p>
          <a:p>
            <a:pPr marL="0" indent="0" algn="l">
              <a:lnSpc>
                <a:spcPct val="93000"/>
              </a:lnSpc>
              <a:buNone/>
            </a:pPr>
            <a:r>
              <a:rPr lang="en-US" sz="3400" b="1" kern="100" spc="-17" dirty="0">
                <a:solidFill>
                  <a:srgbClr val="1B1F4A"/>
                </a:solidFill>
                <a:latin typeface="Cabin Condensed Bold" pitchFamily="34" charset="0"/>
                <a:ea typeface="Cabin Condensed Bold" pitchFamily="34" charset="-122"/>
                <a:cs typeface="Cabin Condensed Bold" pitchFamily="34" charset="-120"/>
              </a:rPr>
              <a:t>with a 2D CNN</a:t>
            </a:r>
            <a:endParaRPr lang="en-US" sz="3400" dirty="0"/>
          </a:p>
        </p:txBody>
      </p:sp>
      <p:sp>
        <p:nvSpPr>
          <p:cNvPr id="3" name="Text 1"/>
          <p:cNvSpPr/>
          <p:nvPr/>
        </p:nvSpPr>
        <p:spPr>
          <a:xfrm>
            <a:off x="584185" y="1805384"/>
            <a:ext cx="11607510" cy="313035"/>
          </a:xfrm>
          <a:prstGeom prst="rect">
            <a:avLst/>
          </a:prstGeom>
          <a:noFill/>
          <a:ln/>
        </p:spPr>
        <p:txBody>
          <a:bodyPr wrap="none" lIns="0" tIns="0" rIns="0" bIns="0" rtlCol="0" anchor="t"/>
          <a:lstStyle/>
          <a:p>
            <a:pPr marL="0" indent="0" algn="l">
              <a:lnSpc>
                <a:spcPct val="121000"/>
              </a:lnSpc>
              <a:buNone/>
            </a:pPr>
            <a:r>
              <a:rPr lang="en-US" sz="1700" dirty="0">
                <a:solidFill>
                  <a:srgbClr val="1B1F4A"/>
                </a:solidFill>
                <a:latin typeface="Merriweather Sans" pitchFamily="34" charset="0"/>
                <a:ea typeface="Merriweather Sans" pitchFamily="34" charset="-122"/>
                <a:cs typeface="Merriweather Sans" pitchFamily="34" charset="-120"/>
              </a:rPr>
              <a:t>The goal is to identify which dataset category a waste image belongs to.</a:t>
            </a:r>
            <a:endParaRPr lang="en-US" sz="1700" dirty="0"/>
          </a:p>
        </p:txBody>
      </p:sp>
      <p:pic>
        <p:nvPicPr>
          <p:cNvPr id="4" name="Image 0" descr="preencoded.png"/>
          <p:cNvPicPr>
            <a:picLocks noChangeAspect="1"/>
          </p:cNvPicPr>
          <p:nvPr/>
        </p:nvPicPr>
        <p:blipFill>
          <a:blip r:embed="rId3"/>
          <a:stretch>
            <a:fillRect/>
          </a:stretch>
        </p:blipFill>
        <p:spPr>
          <a:xfrm>
            <a:off x="584185" y="2575620"/>
            <a:ext cx="6691840" cy="2885777"/>
          </a:xfrm>
          <a:prstGeom prst="rect">
            <a:avLst/>
          </a:prstGeom>
        </p:spPr>
      </p:pic>
      <p:sp>
        <p:nvSpPr>
          <p:cNvPr id="5" name="Text 2"/>
          <p:cNvSpPr/>
          <p:nvPr/>
        </p:nvSpPr>
        <p:spPr>
          <a:xfrm>
            <a:off x="1036102" y="2910219"/>
            <a:ext cx="3680083" cy="200760"/>
          </a:xfrm>
          <a:prstGeom prst="rect">
            <a:avLst/>
          </a:prstGeom>
          <a:noFill/>
          <a:ln/>
        </p:spPr>
        <p:txBody>
          <a:bodyPr wrap="none" lIns="0" tIns="0" rIns="0" bIns="0" rtlCol="0" anchor="t"/>
          <a:lstStyle/>
          <a:p>
            <a:pPr marL="0" indent="0" algn="l">
              <a:lnSpc>
                <a:spcPct val="104000"/>
              </a:lnSpc>
              <a:buNone/>
            </a:pPr>
            <a:r>
              <a:rPr lang="en-US" sz="1250" b="1" kern="100" spc="-6" dirty="0">
                <a:solidFill>
                  <a:srgbClr val="FFFFFF"/>
                </a:solidFill>
                <a:latin typeface="Cabin Condensed Bold" pitchFamily="34" charset="0"/>
                <a:ea typeface="Cabin Condensed Bold" pitchFamily="34" charset="-122"/>
                <a:cs typeface="Cabin Condensed Bold" pitchFamily="34" charset="-120"/>
              </a:rPr>
              <a:t>Load the images</a:t>
            </a:r>
            <a:endParaRPr lang="en-US" sz="1250" dirty="0"/>
          </a:p>
        </p:txBody>
      </p:sp>
      <p:sp>
        <p:nvSpPr>
          <p:cNvPr id="6" name="Text 3"/>
          <p:cNvSpPr/>
          <p:nvPr/>
        </p:nvSpPr>
        <p:spPr>
          <a:xfrm>
            <a:off x="1036102" y="3579418"/>
            <a:ext cx="3680083" cy="200759"/>
          </a:xfrm>
          <a:prstGeom prst="rect">
            <a:avLst/>
          </a:prstGeom>
          <a:noFill/>
          <a:ln/>
        </p:spPr>
        <p:txBody>
          <a:bodyPr wrap="none" lIns="0" tIns="0" rIns="0" bIns="0" rtlCol="0" anchor="t"/>
          <a:lstStyle/>
          <a:p>
            <a:pPr marL="0" indent="0" algn="l">
              <a:lnSpc>
                <a:spcPct val="104000"/>
              </a:lnSpc>
              <a:buNone/>
            </a:pPr>
            <a:r>
              <a:rPr lang="en-US" sz="1250" b="1" kern="100" spc="-6" dirty="0">
                <a:solidFill>
                  <a:srgbClr val="FFFFFF"/>
                </a:solidFill>
                <a:latin typeface="Cabin Condensed Bold" pitchFamily="34" charset="0"/>
                <a:ea typeface="Cabin Condensed Bold" pitchFamily="34" charset="-122"/>
                <a:cs typeface="Cabin Condensed Bold" pitchFamily="34" charset="-120"/>
              </a:rPr>
              <a:t>Resize to 128 × 128</a:t>
            </a:r>
            <a:endParaRPr lang="en-US" sz="1250" dirty="0"/>
          </a:p>
        </p:txBody>
      </p:sp>
      <p:sp>
        <p:nvSpPr>
          <p:cNvPr id="7" name="Text 4"/>
          <p:cNvSpPr/>
          <p:nvPr/>
        </p:nvSpPr>
        <p:spPr>
          <a:xfrm>
            <a:off x="1036102" y="4241925"/>
            <a:ext cx="3680083" cy="200759"/>
          </a:xfrm>
          <a:prstGeom prst="rect">
            <a:avLst/>
          </a:prstGeom>
          <a:noFill/>
          <a:ln/>
        </p:spPr>
        <p:txBody>
          <a:bodyPr wrap="none" lIns="0" tIns="0" rIns="0" bIns="0" rtlCol="0" anchor="t"/>
          <a:lstStyle/>
          <a:p>
            <a:pPr marL="0" indent="0" algn="l">
              <a:lnSpc>
                <a:spcPct val="104000"/>
              </a:lnSpc>
              <a:buNone/>
            </a:pPr>
            <a:r>
              <a:rPr lang="en-US" sz="1250" b="1" kern="100" spc="-6" dirty="0">
                <a:solidFill>
                  <a:srgbClr val="FFFFFF"/>
                </a:solidFill>
                <a:latin typeface="Cabin Condensed Bold" pitchFamily="34" charset="0"/>
                <a:ea typeface="Cabin Condensed Bold" pitchFamily="34" charset="-122"/>
                <a:cs typeface="Cabin Condensed Bold" pitchFamily="34" charset="-120"/>
              </a:rPr>
              <a:t>Run the 2D CNN</a:t>
            </a:r>
            <a:endParaRPr lang="en-US" sz="1250" dirty="0"/>
          </a:p>
        </p:txBody>
      </p:sp>
      <p:sp>
        <p:nvSpPr>
          <p:cNvPr id="8" name="Text 5"/>
          <p:cNvSpPr/>
          <p:nvPr/>
        </p:nvSpPr>
        <p:spPr>
          <a:xfrm>
            <a:off x="1036102" y="4904432"/>
            <a:ext cx="3680083" cy="200759"/>
          </a:xfrm>
          <a:prstGeom prst="rect">
            <a:avLst/>
          </a:prstGeom>
          <a:noFill/>
          <a:ln/>
        </p:spPr>
        <p:txBody>
          <a:bodyPr wrap="none" lIns="0" tIns="0" rIns="0" bIns="0" rtlCol="0" anchor="t"/>
          <a:lstStyle/>
          <a:p>
            <a:pPr marL="0" indent="0" algn="l">
              <a:lnSpc>
                <a:spcPct val="104000"/>
              </a:lnSpc>
              <a:buNone/>
            </a:pPr>
            <a:r>
              <a:rPr lang="en-US" sz="1250" b="1" kern="100" spc="-6" dirty="0">
                <a:solidFill>
                  <a:srgbClr val="FFFFFF"/>
                </a:solidFill>
                <a:latin typeface="Cabin Condensed Bold" pitchFamily="34" charset="0"/>
                <a:ea typeface="Cabin Condensed Bold" pitchFamily="34" charset="-122"/>
                <a:cs typeface="Cabin Condensed Bold" pitchFamily="34" charset="-120"/>
              </a:rPr>
              <a:t>80/20 split (seed 42)</a:t>
            </a:r>
            <a:endParaRPr lang="en-US" sz="1250" dirty="0"/>
          </a:p>
        </p:txBody>
      </p:sp>
      <p:sp>
        <p:nvSpPr>
          <p:cNvPr id="9" name="Shape 6"/>
          <p:cNvSpPr/>
          <p:nvPr/>
        </p:nvSpPr>
        <p:spPr>
          <a:xfrm>
            <a:off x="7733114" y="2347020"/>
            <a:ext cx="3874395" cy="3926780"/>
          </a:xfrm>
          <a:prstGeom prst="roundRect">
            <a:avLst>
              <a:gd name="adj" fmla="val 5507"/>
            </a:avLst>
          </a:prstGeom>
          <a:solidFill>
            <a:srgbClr val="EEF5F9"/>
          </a:solidFill>
          <a:ln/>
        </p:spPr>
        <p:txBody>
          <a:bodyPr/>
          <a:lstStyle/>
          <a:p>
            <a:endParaRPr/>
          </a:p>
        </p:txBody>
      </p:sp>
      <p:sp>
        <p:nvSpPr>
          <p:cNvPr id="10" name="Text 7"/>
          <p:cNvSpPr/>
          <p:nvPr/>
        </p:nvSpPr>
        <p:spPr>
          <a:xfrm>
            <a:off x="8037907" y="2638802"/>
            <a:ext cx="3569603" cy="198041"/>
          </a:xfrm>
          <a:prstGeom prst="rect">
            <a:avLst/>
          </a:prstGeom>
          <a:noFill/>
          <a:ln/>
        </p:spPr>
        <p:txBody>
          <a:bodyPr wrap="none" lIns="0" tIns="0" rIns="0" bIns="0" rtlCol="0" anchor="t"/>
          <a:lstStyle/>
          <a:p>
            <a:pPr marL="0" indent="0" algn="l">
              <a:lnSpc>
                <a:spcPct val="108000"/>
              </a:lnSpc>
              <a:buNone/>
            </a:pPr>
            <a:r>
              <a:rPr lang="en-US" sz="1200" kern="100" spc="72" dirty="0">
                <a:solidFill>
                  <a:srgbClr val="000000"/>
                </a:solidFill>
                <a:latin typeface="Roboto Mono Medium" pitchFamily="34" charset="0"/>
                <a:ea typeface="Roboto Mono Medium" pitchFamily="34" charset="-122"/>
                <a:cs typeface="Roboto Mono Medium" pitchFamily="34" charset="-120"/>
              </a:rPr>
              <a:t>EVIDENCE BOUNDARY</a:t>
            </a:r>
            <a:endParaRPr lang="en-US" sz="1200" dirty="0"/>
          </a:p>
        </p:txBody>
      </p:sp>
      <p:sp>
        <p:nvSpPr>
          <p:cNvPr id="11" name="Text 8"/>
          <p:cNvSpPr/>
          <p:nvPr/>
        </p:nvSpPr>
        <p:spPr>
          <a:xfrm>
            <a:off x="8037907" y="2937966"/>
            <a:ext cx="3264811" cy="333375"/>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Merriweather Sans Bold" pitchFamily="34" charset="0"/>
                <a:ea typeface="Merriweather Sans Bold" pitchFamily="34" charset="-122"/>
                <a:cs typeface="Merriweather Sans Bold" pitchFamily="34" charset="-120"/>
              </a:rPr>
              <a:t>The workflow is documented</a:t>
            </a:r>
            <a:endParaRPr lang="en-US" sz="2100" dirty="0"/>
          </a:p>
        </p:txBody>
      </p:sp>
      <p:sp>
        <p:nvSpPr>
          <p:cNvPr id="12" name="Text 9"/>
          <p:cNvSpPr/>
          <p:nvPr/>
        </p:nvSpPr>
        <p:spPr>
          <a:xfrm>
            <a:off x="8037907" y="3445966"/>
            <a:ext cx="3264811" cy="110490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Merriweather Sans" pitchFamily="34" charset="0"/>
                <a:ea typeface="Merriweather Sans" pitchFamily="34" charset="-122"/>
                <a:cs typeface="Merriweather Sans" pitchFamily="34" charset="-120"/>
              </a:rPr>
              <a:t>The notebook explains how the model should be evaluated, but the supplied files do not include results from an actual run.</a:t>
            </a:r>
            <a:endParaRPr lang="en-US" sz="1500" dirty="0"/>
          </a:p>
        </p:txBody>
      </p:sp>
      <p:sp>
        <p:nvSpPr>
          <p:cNvPr id="13" name="Text 10"/>
          <p:cNvSpPr/>
          <p:nvPr/>
        </p:nvSpPr>
        <p:spPr>
          <a:xfrm>
            <a:off x="8037907" y="4710093"/>
            <a:ext cx="3264811" cy="396081"/>
          </a:xfrm>
          <a:prstGeom prst="rect">
            <a:avLst/>
          </a:prstGeom>
          <a:noFill/>
          <a:ln/>
        </p:spPr>
        <p:txBody>
          <a:bodyPr wrap="square" lIns="0" tIns="0" rIns="0" bIns="0" rtlCol="0" anchor="t">
            <a:normAutofit/>
          </a:bodyPr>
          <a:lstStyle/>
          <a:p>
            <a:pPr marL="0" indent="0" algn="l">
              <a:lnSpc>
                <a:spcPct val="108000"/>
              </a:lnSpc>
              <a:buNone/>
            </a:pPr>
            <a:r>
              <a:rPr lang="en-US" sz="1200" kern="100" spc="72" dirty="0">
                <a:solidFill>
                  <a:srgbClr val="000000"/>
                </a:solidFill>
                <a:latin typeface="Roboto Mono Medium" pitchFamily="34" charset="0"/>
                <a:ea typeface="Roboto Mono Medium" pitchFamily="34" charset="-122"/>
                <a:cs typeface="Roboto Mono Medium" pitchFamily="34" charset="-120"/>
              </a:rPr>
              <a:t>80/20 VALIDATION · SEED 42 · 10 EPOCHS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of a graph lightbox">
            <a:extLst>
              <a:ext uri="{FF2B5EF4-FFF2-40B4-BE49-F238E27FC236}">
                <a16:creationId xmlns:a16="http://schemas.microsoft.com/office/drawing/2014/main" id="{F5D5DC02-08BF-ABA8-7703-D995251644A8}"/>
              </a:ext>
            </a:extLst>
          </p:cNvPr>
          <p:cNvPicPr>
            <a:picLocks noChangeAspect="1"/>
          </p:cNvPicPr>
          <p:nvPr/>
        </p:nvPicPr>
        <p:blipFill>
          <a:blip r:embed="rId2"/>
          <a:stretch>
            <a:fillRect/>
          </a:stretch>
        </p:blipFill>
        <p:spPr>
          <a:xfrm>
            <a:off x="139958" y="1792096"/>
            <a:ext cx="11887199" cy="2359405"/>
          </a:xfrm>
          <a:prstGeom prst="rect">
            <a:avLst/>
          </a:prstGeom>
        </p:spPr>
      </p:pic>
      <p:sp>
        <p:nvSpPr>
          <p:cNvPr id="6" name="TextBox 5">
            <a:extLst>
              <a:ext uri="{FF2B5EF4-FFF2-40B4-BE49-F238E27FC236}">
                <a16:creationId xmlns:a16="http://schemas.microsoft.com/office/drawing/2014/main" id="{70C10F2C-D721-D882-86EB-5A7D92E0AABD}"/>
              </a:ext>
            </a:extLst>
          </p:cNvPr>
          <p:cNvSpPr txBox="1"/>
          <p:nvPr/>
        </p:nvSpPr>
        <p:spPr>
          <a:xfrm>
            <a:off x="466531" y="653143"/>
            <a:ext cx="6354147" cy="1354217"/>
          </a:xfrm>
          <a:prstGeom prst="rect">
            <a:avLst/>
          </a:prstGeom>
          <a:noFill/>
        </p:spPr>
        <p:txBody>
          <a:bodyPr wrap="square" rtlCol="0">
            <a:spAutoFit/>
          </a:bodyPr>
          <a:lstStyle/>
          <a:p>
            <a:r>
              <a:rPr lang="en-IN" sz="3200" b="1" dirty="0"/>
              <a:t>How a CNN turns an image
into a waste label</a:t>
            </a:r>
          </a:p>
          <a:p>
            <a:endParaRPr lang="en-IN" dirty="0"/>
          </a:p>
        </p:txBody>
      </p:sp>
      <p:sp>
        <p:nvSpPr>
          <p:cNvPr id="7" name="TextBox 6">
            <a:extLst>
              <a:ext uri="{FF2B5EF4-FFF2-40B4-BE49-F238E27FC236}">
                <a16:creationId xmlns:a16="http://schemas.microsoft.com/office/drawing/2014/main" id="{6FDFE2FC-BDB9-9886-BF78-9F5519692B00}"/>
              </a:ext>
            </a:extLst>
          </p:cNvPr>
          <p:cNvSpPr txBox="1"/>
          <p:nvPr/>
        </p:nvSpPr>
        <p:spPr>
          <a:xfrm>
            <a:off x="690464" y="4690289"/>
            <a:ext cx="8052319" cy="1477328"/>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t>Convolution layers look for patterns such as edges, textures and shapes</a:t>
            </a:r>
          </a:p>
          <a:p>
            <a:pPr marL="342900" lvl="0" indent="-342900">
              <a:buFont typeface="Arial" panose="020B0604020202020204" pitchFamily="34" charset="0"/>
              <a:buChar char="•"/>
            </a:pPr>
            <a:r>
              <a:rPr lang="en-IN" sz="2400" dirty="0"/>
              <a:t>Pooling makes the feature maps smaller</a:t>
            </a:r>
          </a:p>
          <a:p>
            <a:pPr marL="342900" lvl="0" indent="-342900">
              <a:buFont typeface="Arial" panose="020B0604020202020204" pitchFamily="34" charset="0"/>
              <a:buChar char="•"/>
            </a:pPr>
            <a:r>
              <a:rPr lang="en-IN" sz="2400" dirty="0" err="1"/>
              <a:t>Softmax gives a score for each waste category</a:t>
            </a:r>
          </a:p>
          <a:p>
            <a:endParaRPr lang="en-IN" dirty="0"/>
          </a:p>
        </p:txBody>
      </p:sp>
    </p:spTree>
    <p:extLst>
      <p:ext uri="{BB962C8B-B14F-4D97-AF65-F5344CB8AC3E}">
        <p14:creationId xmlns:p14="http://schemas.microsoft.com/office/powerpoint/2010/main" val="3524844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F9C4EA-0E49-15DC-39F5-6D88BB481508}"/>
              </a:ext>
            </a:extLst>
          </p:cNvPr>
          <p:cNvSpPr txBox="1"/>
          <p:nvPr/>
        </p:nvSpPr>
        <p:spPr>
          <a:xfrm>
            <a:off x="485193" y="979714"/>
            <a:ext cx="6699378" cy="1354217"/>
          </a:xfrm>
          <a:prstGeom prst="rect">
            <a:avLst/>
          </a:prstGeom>
          <a:noFill/>
        </p:spPr>
        <p:txBody>
          <a:bodyPr wrap="square" rtlCol="0">
            <a:spAutoFit/>
          </a:bodyPr>
          <a:lstStyle/>
          <a:p>
            <a:r>
              <a:rPr lang="en-IN" sz="3200" b="1" dirty="0">
                <a:latin typeface="Century Gothic" panose="020B0502020202020204" pitchFamily="34" charset="0"/>
              </a:rPr>
              <a:t>Getting the images ready for training</a:t>
            </a:r>
          </a:p>
          <a:p>
            <a:endParaRPr lang="en-IN" dirty="0"/>
          </a:p>
        </p:txBody>
      </p:sp>
      <p:sp>
        <p:nvSpPr>
          <p:cNvPr id="3" name="TextBox 2">
            <a:extLst>
              <a:ext uri="{FF2B5EF4-FFF2-40B4-BE49-F238E27FC236}">
                <a16:creationId xmlns:a16="http://schemas.microsoft.com/office/drawing/2014/main" id="{D6D4B213-6D8C-9333-1988-751176DD3421}"/>
              </a:ext>
            </a:extLst>
          </p:cNvPr>
          <p:cNvSpPr txBox="1"/>
          <p:nvPr/>
        </p:nvSpPr>
        <p:spPr>
          <a:xfrm>
            <a:off x="485193" y="2724538"/>
            <a:ext cx="7298152" cy="1938992"/>
          </a:xfrm>
          <a:prstGeom prst="rect">
            <a:avLst/>
          </a:prstGeom>
          <a:noFill/>
        </p:spPr>
        <p:txBody>
          <a:bodyPr wrap="none" rtlCol="0">
            <a:spAutoFit/>
          </a:bodyPr>
          <a:lstStyle/>
          <a:p>
            <a:pPr marL="457200" lvl="0" indent="-457200">
              <a:buFont typeface="+mj-lt"/>
              <a:buAutoNum type="arabicPeriod"/>
            </a:pPr>
            <a:r>
              <a:rPr lang="en-IN" sz="2400" dirty="0"/>
              <a:t>Resize each image to 128 × 128</a:t>
            </a:r>
          </a:p>
          <a:p>
            <a:pPr marL="457200" lvl="0" indent="-457200">
              <a:buFont typeface="+mj-lt"/>
              <a:buAutoNum type="arabicPeriod"/>
            </a:pPr>
            <a:r>
              <a:rPr lang="en-IN" sz="2400" dirty="0"/>
              <a:t>Scale pixel values from 0–255 to a range of 0–1</a:t>
            </a:r>
          </a:p>
          <a:p>
            <a:pPr marL="457200" lvl="0" indent="-457200">
              <a:buFont typeface="+mj-lt"/>
              <a:buAutoNum type="arabicPeriod"/>
            </a:pPr>
            <a:r>
              <a:rPr lang="en-IN" sz="2400" dirty="0"/>
              <a:t>Prefetch batches so the next images are ready when the model needs them</a:t>
            </a:r>
          </a:p>
          <a:p>
            <a:pPr marL="457200" lvl="0" indent="-457200">
              <a:buFont typeface="+mj-lt"/>
              <a:buAutoNum type="arabicPeriod"/>
            </a:pPr>
            <a:r>
              <a:rPr lang="en-IN" sz="2400" dirty="0"/>
              <a:t>Use Adam for optimisation and sparse categorical cross-entropy to calculate the loss</a:t>
            </a:r>
          </a:p>
          <a:p>
            <a:pPr marL="457200" lvl="0" indent="-457200">
              <a:buFont typeface="+mj-lt"/>
              <a:buAutoNum type="arabicPeriod"/>
            </a:pPr>
            <a:r>
              <a:rPr lang="en-IN" sz="2400" dirty="0"/>
              <a:t>Track accuracy and loss for both training and validation</a:t>
            </a:r>
          </a:p>
        </p:txBody>
      </p:sp>
    </p:spTree>
    <p:extLst>
      <p:ext uri="{BB962C8B-B14F-4D97-AF65-F5344CB8AC3E}">
        <p14:creationId xmlns:p14="http://schemas.microsoft.com/office/powerpoint/2010/main" val="30913335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BE7AB3-D29C-86E7-2F94-6FED0FD3F9D2}"/>
              </a:ext>
            </a:extLst>
          </p:cNvPr>
          <p:cNvSpPr txBox="1"/>
          <p:nvPr/>
        </p:nvSpPr>
        <p:spPr>
          <a:xfrm>
            <a:off x="597158" y="858417"/>
            <a:ext cx="11103430" cy="4124206"/>
          </a:xfrm>
          <a:prstGeom prst="rect">
            <a:avLst/>
          </a:prstGeom>
          <a:noFill/>
        </p:spPr>
        <p:txBody>
          <a:bodyPr wrap="square" rtlCol="0">
            <a:spAutoFit/>
          </a:bodyPr>
          <a:lstStyle/>
          <a:p>
            <a:r>
              <a:rPr lang="en-IN" sz="3600" b="1" dirty="0">
                <a:latin typeface="Corbel" panose="020B0503020204020204" pitchFamily="34" charset="0"/>
              </a:rPr>
              <a:t>Accuracy alone does not tell the whole story</a:t>
            </a:r>
          </a:p>
          <a:p>
            <a:endParaRPr lang="en-IN" sz="3200" b="1" dirty="0"/>
          </a:p>
          <a:p>
            <a:endParaRPr lang="en-IN" sz="3200" b="1" dirty="0"/>
          </a:p>
          <a:p>
            <a:pPr marL="342900" lvl="0" indent="-342900">
              <a:buFont typeface="Wingdings" panose="05000000000000000000" pitchFamily="2" charset="2"/>
              <a:buChar char="q"/>
            </a:pPr>
            <a:r>
              <a:rPr lang="en-IN" sz="2400" dirty="0"/>
              <a:t>Validation accuracy and loss show how the model performs on images it has not seen during training</a:t>
            </a:r>
          </a:p>
          <a:p>
            <a:pPr marL="342900" lvl="0" indent="-342900">
              <a:buFont typeface="Wingdings" panose="05000000000000000000" pitchFamily="2" charset="2"/>
              <a:buChar char="q"/>
            </a:pPr>
            <a:r>
              <a:rPr lang="en-IN" sz="2400" dirty="0"/>
              <a:t>A confusion matrix shows which waste categories the model tends to confuse</a:t>
            </a:r>
          </a:p>
          <a:p>
            <a:pPr marL="342900" lvl="0" indent="-342900">
              <a:buFont typeface="Wingdings" panose="05000000000000000000" pitchFamily="2" charset="2"/>
              <a:buChar char="q"/>
            </a:pPr>
            <a:r>
              <a:rPr lang="en-IN" sz="2400" dirty="0"/>
              <a:t>Precision, recall and F1-score help us assess performance for each category</a:t>
            </a:r>
          </a:p>
          <a:p>
            <a:pPr marL="342900" lvl="0" indent="-342900">
              <a:buFont typeface="Wingdings" panose="05000000000000000000" pitchFamily="2" charset="2"/>
              <a:buChar char="q"/>
            </a:pPr>
            <a:r>
              <a:rPr lang="en-IN" sz="2400" dirty="0"/>
              <a:t>A high Softmax score does not guarantee that the prediction is correct</a:t>
            </a:r>
          </a:p>
          <a:p>
            <a:pPr marL="342900" lvl="0" indent="-342900">
              <a:buFont typeface="Wingdings" panose="05000000000000000000" pitchFamily="2" charset="2"/>
              <a:buChar char="q"/>
            </a:pPr>
            <a:r>
              <a:rPr lang="en-IN" sz="2400" dirty="0"/>
              <a:t>The notebook describes these evaluation checks, but it does not include actual test results</a:t>
            </a:r>
          </a:p>
          <a:p>
            <a:endParaRPr lang="en-IN" dirty="0"/>
          </a:p>
        </p:txBody>
      </p:sp>
    </p:spTree>
    <p:extLst>
      <p:ext uri="{BB962C8B-B14F-4D97-AF65-F5344CB8AC3E}">
        <p14:creationId xmlns:p14="http://schemas.microsoft.com/office/powerpoint/2010/main" val="2755154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4C8619-5CA4-1A3D-21C2-C02E492DDD75}"/>
              </a:ext>
            </a:extLst>
          </p:cNvPr>
          <p:cNvSpPr txBox="1"/>
          <p:nvPr/>
        </p:nvSpPr>
        <p:spPr>
          <a:xfrm>
            <a:off x="93307" y="681134"/>
            <a:ext cx="5141168" cy="5047536"/>
          </a:xfrm>
          <a:prstGeom prst="rect">
            <a:avLst/>
          </a:prstGeom>
          <a:noFill/>
        </p:spPr>
        <p:txBody>
          <a:bodyPr wrap="square" rtlCol="0">
            <a:spAutoFit/>
          </a:bodyPr>
          <a:lstStyle/>
          <a:p>
            <a:r>
              <a:rPr lang="en-IN" sz="3200" b="1" dirty="0"/>
              <a:t>Using image predictions to guide waste sorting</a:t>
            </a:r>
          </a:p>
          <a:p>
            <a:endParaRPr lang="en-IN" dirty="0"/>
          </a:p>
          <a:p>
            <a:endParaRPr lang="en-IN" dirty="0"/>
          </a:p>
          <a:p>
            <a:endParaRPr lang="en-IN" dirty="0"/>
          </a:p>
          <a:p>
            <a:endParaRPr lang="en-IN" dirty="0"/>
          </a:p>
          <a:p>
            <a:pPr marL="342900" lvl="0" indent="-342900">
              <a:buFont typeface="Wingdings" panose="05000000000000000000" pitchFamily="2" charset="2"/>
              <a:buChar char="q"/>
            </a:pPr>
            <a:r>
              <a:rPr lang="en-IN" sz="2400" dirty="0"/>
              <a:t>When confidence is high, predictions could help direct items to the appropriate sorting stream</a:t>
            </a:r>
          </a:p>
          <a:p>
            <a:pPr marL="342900" lvl="0" indent="-342900">
              <a:buFont typeface="Wingdings" panose="05000000000000000000" pitchFamily="2" charset="2"/>
              <a:buChar char="q"/>
            </a:pPr>
            <a:r>
              <a:rPr lang="en-IN" sz="2400" dirty="0"/>
              <a:t>If the model is uncertain, the item should be checked by a person</a:t>
            </a:r>
          </a:p>
          <a:p>
            <a:pPr marL="342900" lvl="0" indent="-342900">
              <a:buFont typeface="Wingdings" panose="05000000000000000000" pitchFamily="2" charset="2"/>
              <a:buChar char="q"/>
            </a:pPr>
            <a:r>
              <a:rPr lang="en-IN" sz="2400" dirty="0"/>
              <a:t>Before real-world use, the model needs representative images and further testing</a:t>
            </a:r>
          </a:p>
          <a:p>
            <a:endParaRPr lang="en-IN" dirty="0"/>
          </a:p>
        </p:txBody>
      </p:sp>
      <p:pic>
        <p:nvPicPr>
          <p:cNvPr id="4" name="Picture 3">
            <a:extLst>
              <a:ext uri="{FF2B5EF4-FFF2-40B4-BE49-F238E27FC236}">
                <a16:creationId xmlns:a16="http://schemas.microsoft.com/office/drawing/2014/main" id="{BD93C1F2-0165-B412-2CD5-813B6941F166}"/>
              </a:ext>
            </a:extLst>
          </p:cNvPr>
          <p:cNvPicPr>
            <a:picLocks noChangeAspect="1"/>
          </p:cNvPicPr>
          <p:nvPr/>
        </p:nvPicPr>
        <p:blipFill>
          <a:blip r:embed="rId2"/>
          <a:srcRect l="1444" t="18384" r="1794" b="2755"/>
          <a:stretch>
            <a:fillRect/>
          </a:stretch>
        </p:blipFill>
        <p:spPr>
          <a:xfrm>
            <a:off x="5029200" y="0"/>
            <a:ext cx="7231224" cy="6858000"/>
          </a:xfrm>
          <a:prstGeom prst="rect">
            <a:avLst/>
          </a:prstGeom>
        </p:spPr>
      </p:pic>
    </p:spTree>
    <p:extLst>
      <p:ext uri="{BB962C8B-B14F-4D97-AF65-F5344CB8AC3E}">
        <p14:creationId xmlns:p14="http://schemas.microsoft.com/office/powerpoint/2010/main" val="2461138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68062F-65AE-CD76-6C79-A76597CC4806}"/>
              </a:ext>
            </a:extLst>
          </p:cNvPr>
          <p:cNvSpPr txBox="1"/>
          <p:nvPr/>
        </p:nvSpPr>
        <p:spPr>
          <a:xfrm>
            <a:off x="587829" y="494522"/>
            <a:ext cx="8763168" cy="861774"/>
          </a:xfrm>
          <a:prstGeom prst="rect">
            <a:avLst/>
          </a:prstGeom>
          <a:noFill/>
        </p:spPr>
        <p:txBody>
          <a:bodyPr wrap="none" rtlCol="0">
            <a:spAutoFit/>
          </a:bodyPr>
          <a:lstStyle/>
          <a:p>
            <a:r>
              <a:rPr lang="en-IN" sz="3200" b="1" dirty="0"/>
              <a:t>What both projects teach us about responsible ML</a:t>
            </a:r>
          </a:p>
          <a:p>
            <a:endParaRPr lang="en-IN" dirty="0"/>
          </a:p>
        </p:txBody>
      </p:sp>
      <p:pic>
        <p:nvPicPr>
          <p:cNvPr id="4" name="Picture 3">
            <a:extLst>
              <a:ext uri="{FF2B5EF4-FFF2-40B4-BE49-F238E27FC236}">
                <a16:creationId xmlns:a16="http://schemas.microsoft.com/office/drawing/2014/main" id="{85CB52C4-E723-24FB-9412-7DC232F2AFE3}"/>
              </a:ext>
            </a:extLst>
          </p:cNvPr>
          <p:cNvPicPr>
            <a:picLocks noChangeAspect="1"/>
          </p:cNvPicPr>
          <p:nvPr/>
        </p:nvPicPr>
        <p:blipFill>
          <a:blip r:embed="rId2"/>
          <a:srcRect l="2654" t="18288" r="2781" b="8105"/>
          <a:stretch>
            <a:fillRect/>
          </a:stretch>
        </p:blipFill>
        <p:spPr>
          <a:xfrm>
            <a:off x="334346" y="1194318"/>
            <a:ext cx="11523307" cy="5169160"/>
          </a:xfrm>
          <a:prstGeom prst="rect">
            <a:avLst/>
          </a:prstGeom>
        </p:spPr>
      </p:pic>
    </p:spTree>
    <p:extLst>
      <p:ext uri="{BB962C8B-B14F-4D97-AF65-F5344CB8AC3E}">
        <p14:creationId xmlns:p14="http://schemas.microsoft.com/office/powerpoint/2010/main" val="335793864"/>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9E9863-0BEF-0998-1D40-2A9B01297DD5}"/>
              </a:ext>
            </a:extLst>
          </p:cNvPr>
          <p:cNvSpPr txBox="1"/>
          <p:nvPr/>
        </p:nvSpPr>
        <p:spPr>
          <a:xfrm>
            <a:off x="251927" y="662474"/>
            <a:ext cx="11541968" cy="4339650"/>
          </a:xfrm>
          <a:prstGeom prst="rect">
            <a:avLst/>
          </a:prstGeom>
          <a:noFill/>
        </p:spPr>
        <p:txBody>
          <a:bodyPr wrap="square" rtlCol="0">
            <a:spAutoFit/>
          </a:bodyPr>
          <a:lstStyle/>
          <a:p>
            <a:r>
              <a:rPr lang="en-IN" sz="3600" b="1" dirty="0"/>
              <a:t>What we could improve next</a:t>
            </a:r>
          </a:p>
          <a:p>
            <a:endParaRPr lang="en-IN" sz="3600" b="1" dirty="0"/>
          </a:p>
          <a:p>
            <a:endParaRPr lang="en-IN" sz="3600" b="1" dirty="0"/>
          </a:p>
          <a:p>
            <a:pPr marL="457200" lvl="0" indent="-457200">
              <a:buFont typeface="Wingdings" panose="05000000000000000000" pitchFamily="2" charset="2"/>
              <a:buChar char="q"/>
            </a:pPr>
            <a:r>
              <a:rPr lang="en-IN" sz="2800" dirty="0"/>
              <a:t>Air model: add richer time-based features, compare other regression models and test across different locations</a:t>
            </a:r>
          </a:p>
          <a:p>
            <a:pPr marL="457200" lvl="0" indent="-457200">
              <a:buFont typeface="Wingdings" panose="05000000000000000000" pitchFamily="2" charset="2"/>
              <a:buChar char="q"/>
            </a:pPr>
            <a:r>
              <a:rPr lang="en-IN" sz="2800" dirty="0"/>
              <a:t>Waste model: check class balance, use image augmentation, explore transfer learning and calibrate confidence scores</a:t>
            </a:r>
          </a:p>
          <a:p>
            <a:pPr marL="457200" lvl="0" indent="-457200">
              <a:buFont typeface="Wingdings" panose="05000000000000000000" pitchFamily="2" charset="2"/>
              <a:buChar char="q"/>
            </a:pPr>
            <a:r>
              <a:rPr lang="en-IN" sz="2800" dirty="0"/>
              <a:t>Both: track data versions, make experiments reproducible, analyse errors and include human review</a:t>
            </a:r>
          </a:p>
          <a:p>
            <a:pPr marL="457200" lvl="0" indent="-457200">
              <a:buFont typeface="Wingdings" panose="05000000000000000000" pitchFamily="2" charset="2"/>
              <a:buChar char="q"/>
            </a:pPr>
            <a:r>
              <a:rPr lang="en-IN" sz="2800" dirty="0"/>
              <a:t>Measure real environmental impact only after field testing</a:t>
            </a:r>
          </a:p>
        </p:txBody>
      </p:sp>
    </p:spTree>
    <p:extLst>
      <p:ext uri="{BB962C8B-B14F-4D97-AF65-F5344CB8AC3E}">
        <p14:creationId xmlns:p14="http://schemas.microsoft.com/office/powerpoint/2010/main" val="2165075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3A4141-2F9C-380B-7E33-14C410835A66}"/>
              </a:ext>
            </a:extLst>
          </p:cNvPr>
          <p:cNvSpPr txBox="1"/>
          <p:nvPr/>
        </p:nvSpPr>
        <p:spPr>
          <a:xfrm>
            <a:off x="354563" y="849086"/>
            <a:ext cx="10776857" cy="3508653"/>
          </a:xfrm>
          <a:prstGeom prst="rect">
            <a:avLst/>
          </a:prstGeom>
          <a:noFill/>
        </p:spPr>
        <p:txBody>
          <a:bodyPr wrap="square" rtlCol="0">
            <a:spAutoFit/>
          </a:bodyPr>
          <a:lstStyle/>
          <a:p>
            <a:r>
              <a:rPr lang="en-IN" sz="3600" b="1" dirty="0"/>
              <a:t>Conclusion — two models, one shared goal</a:t>
            </a:r>
          </a:p>
          <a:p>
            <a:pPr marL="457200" lvl="0" indent="-457200">
              <a:buFont typeface="Wingdings" panose="05000000000000000000" pitchFamily="2" charset="2"/>
              <a:buChar char="q"/>
            </a:pPr>
            <a:endParaRPr lang="en-IN" sz="2800" dirty="0"/>
          </a:p>
          <a:p>
            <a:pPr lvl="0"/>
            <a:endParaRPr lang="en-IN" sz="2800" dirty="0"/>
          </a:p>
          <a:p>
            <a:pPr marL="457200" lvl="0" indent="-457200">
              <a:buFont typeface="Wingdings" panose="05000000000000000000" pitchFamily="2" charset="2"/>
              <a:buChar char="q"/>
            </a:pPr>
            <a:r>
              <a:rPr lang="en-IN" sz="2800" dirty="0"/>
              <a:t>Prediction can help us monitor air quality</a:t>
            </a:r>
          </a:p>
          <a:p>
            <a:pPr marL="457200" lvl="0" indent="-457200">
              <a:buFont typeface="Wingdings" panose="05000000000000000000" pitchFamily="2" charset="2"/>
              <a:buChar char="q"/>
            </a:pPr>
            <a:r>
              <a:rPr lang="en-IN" sz="2800" dirty="0"/>
              <a:t>Image classification can help direct waste towards the appropriate handling process</a:t>
            </a:r>
          </a:p>
          <a:p>
            <a:pPr marL="457200" lvl="0" indent="-457200">
              <a:buFont typeface="Wingdings" panose="05000000000000000000" pitchFamily="2" charset="2"/>
              <a:buChar char="q"/>
            </a:pPr>
            <a:r>
              <a:rPr lang="en-IN" sz="2800" dirty="0"/>
              <a:t>Both projects lead to the same lesson: useful environmental tools depend on clear data, careful testing and honest reporting</a:t>
            </a:r>
          </a:p>
          <a:p>
            <a:endParaRPr lang="en-IN" dirty="0"/>
          </a:p>
        </p:txBody>
      </p:sp>
    </p:spTree>
    <p:extLst>
      <p:ext uri="{BB962C8B-B14F-4D97-AF65-F5344CB8AC3E}">
        <p14:creationId xmlns:p14="http://schemas.microsoft.com/office/powerpoint/2010/main" val="15198901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1431</Words>
  <Application>Microsoft Office PowerPoint</Application>
  <PresentationFormat>Widescreen</PresentationFormat>
  <Paragraphs>165</Paragraphs>
  <Slides>17</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Cabin Condensed Bold</vt:lpstr>
      <vt:lpstr>Merriweather Sans Bold</vt:lpstr>
      <vt:lpstr>Arial</vt:lpstr>
      <vt:lpstr>Century Gothic</vt:lpstr>
      <vt:lpstr>Roboto Mono Medium</vt:lpstr>
      <vt:lpstr>Merriweather Sans SemiBold</vt:lpstr>
      <vt:lpstr>Corbel</vt:lpstr>
      <vt:lpstr>Merriweather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lastModifiedBy>Divanshi Bansal</cp:lastModifiedBy>
  <cp:revision>3</cp:revision>
  <dcterms:created xsi:type="dcterms:W3CDTF">2026-10-17T15:49:08Z</dcterms:created>
  <dcterms:modified xsi:type="dcterms:W3CDTF">2026-10-19T13:13:49Z</dcterms:modified>
</cp:coreProperties>
</file>